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sldIdLst>
    <p:sldId id="256" r:id="rId2"/>
    <p:sldId id="270" r:id="rId3"/>
    <p:sldId id="268" r:id="rId4"/>
    <p:sldId id="265" r:id="rId5"/>
    <p:sldId id="259" r:id="rId6"/>
    <p:sldId id="260" r:id="rId7"/>
    <p:sldId id="261" r:id="rId8"/>
    <p:sldId id="262" r:id="rId9"/>
    <p:sldId id="263" r:id="rId10"/>
    <p:sldId id="264" r:id="rId11"/>
    <p:sldId id="267" r:id="rId12"/>
    <p:sldId id="269" r:id="rId13"/>
    <p:sldId id="26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A5356"/>
    <a:srgbClr val="9CA38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03C101-371A-6AEB-380C-D84C382AAB3C}" v="2" dt="2026-03-11T09:39:36.4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348" autoAdjust="0"/>
  </p:normalViewPr>
  <p:slideViewPr>
    <p:cSldViewPr snapToGrid="0">
      <p:cViewPr varScale="1">
        <p:scale>
          <a:sx n="97" d="100"/>
          <a:sy n="97" d="100"/>
        </p:scale>
        <p:origin x="291"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pika Singh" userId="S::deepika@edunetfoundation.org::f0f56065-e271-45de-8d64-7e8bb4020470" providerId="AD" clId="Web-{A2203275-9AEB-CC7C-CD42-D798654E329D}"/>
    <pc:docChg chg="modSld">
      <pc:chgData name="Deepika Singh" userId="S::deepika@edunetfoundation.org::f0f56065-e271-45de-8d64-7e8bb4020470" providerId="AD" clId="Web-{A2203275-9AEB-CC7C-CD42-D798654E329D}" dt="2026-02-13T04:16:06.674" v="2" actId="1076"/>
      <pc:docMkLst>
        <pc:docMk/>
      </pc:docMkLst>
      <pc:sldChg chg="addSp delSp modSp">
        <pc:chgData name="Deepika Singh" userId="S::deepika@edunetfoundation.org::f0f56065-e271-45de-8d64-7e8bb4020470" providerId="AD" clId="Web-{A2203275-9AEB-CC7C-CD42-D798654E329D}" dt="2026-02-13T04:16:06.674" v="2" actId="1076"/>
        <pc:sldMkLst>
          <pc:docMk/>
          <pc:sldMk cId="2883350127" sldId="270"/>
        </pc:sldMkLst>
        <pc:graphicFrameChg chg="add mod">
          <ac:chgData name="Deepika Singh" userId="S::deepika@edunetfoundation.org::f0f56065-e271-45de-8d64-7e8bb4020470" providerId="AD" clId="Web-{A2203275-9AEB-CC7C-CD42-D798654E329D}" dt="2026-02-13T04:16:06.674" v="2" actId="1076"/>
          <ac:graphicFrameMkLst>
            <pc:docMk/>
            <pc:sldMk cId="2883350127" sldId="270"/>
            <ac:graphicFrameMk id="30" creationId="{064916C5-F9EC-7006-0A96-A1BB04AC3207}"/>
          </ac:graphicFrameMkLst>
        </pc:graphicFrameChg>
      </pc:sldChg>
    </pc:docChg>
  </pc:docChgLst>
  <pc:docChgLst>
    <pc:chgData name="Guest User" userId="S::urn:spo:tenantanon#ad06ef22-d6dc-4a55-b4c1-c3a158f5f147::" providerId="AD" clId="Web-{298D95F4-1281-2901-3E4D-F203D5EEF89D}"/>
    <pc:docChg chg="modSld">
      <pc:chgData name="Guest User" userId="S::urn:spo:tenantanon#ad06ef22-d6dc-4a55-b4c1-c3a158f5f147::" providerId="AD" clId="Web-{298D95F4-1281-2901-3E4D-F203D5EEF89D}" dt="2026-02-24T06:06:18.081" v="17" actId="20577"/>
      <pc:docMkLst>
        <pc:docMk/>
      </pc:docMkLst>
      <pc:sldChg chg="modSp">
        <pc:chgData name="Guest User" userId="S::urn:spo:tenantanon#ad06ef22-d6dc-4a55-b4c1-c3a158f5f147::" providerId="AD" clId="Web-{298D95F4-1281-2901-3E4D-F203D5EEF89D}" dt="2026-02-24T05:59:15.426" v="2" actId="20577"/>
        <pc:sldMkLst>
          <pc:docMk/>
          <pc:sldMk cId="1023676988" sldId="258"/>
        </pc:sldMkLst>
        <pc:spChg chg="mod">
          <ac:chgData name="Guest User" userId="S::urn:spo:tenantanon#ad06ef22-d6dc-4a55-b4c1-c3a158f5f147::" providerId="AD" clId="Web-{298D95F4-1281-2901-3E4D-F203D5EEF89D}" dt="2026-02-24T05:55:08.404" v="0" actId="20577"/>
          <ac:spMkLst>
            <pc:docMk/>
            <pc:sldMk cId="1023676988" sldId="258"/>
            <ac:spMk id="2" creationId="{01B94EB9-4981-4B64-BA7E-735F6CAD4324}"/>
          </ac:spMkLst>
        </pc:spChg>
        <pc:spChg chg="mod">
          <ac:chgData name="Guest User" userId="S::urn:spo:tenantanon#ad06ef22-d6dc-4a55-b4c1-c3a158f5f147::" providerId="AD" clId="Web-{298D95F4-1281-2901-3E4D-F203D5EEF89D}" dt="2026-02-24T05:59:15.426" v="2" actId="20577"/>
          <ac:spMkLst>
            <pc:docMk/>
            <pc:sldMk cId="1023676988" sldId="258"/>
            <ac:spMk id="3" creationId="{2473D968-550A-45A2-B636-4D6F7BFB4421}"/>
          </ac:spMkLst>
        </pc:spChg>
      </pc:sldChg>
      <pc:sldChg chg="modSp">
        <pc:chgData name="Guest User" userId="S::urn:spo:tenantanon#ad06ef22-d6dc-4a55-b4c1-c3a158f5f147::" providerId="AD" clId="Web-{298D95F4-1281-2901-3E4D-F203D5EEF89D}" dt="2026-02-24T05:59:22.223" v="3" actId="20577"/>
        <pc:sldMkLst>
          <pc:docMk/>
          <pc:sldMk cId="1741187183" sldId="259"/>
        </pc:sldMkLst>
        <pc:spChg chg="mod">
          <ac:chgData name="Guest User" userId="S::urn:spo:tenantanon#ad06ef22-d6dc-4a55-b4c1-c3a158f5f147::" providerId="AD" clId="Web-{298D95F4-1281-2901-3E4D-F203D5EEF89D}" dt="2026-02-24T05:59:22.223" v="3" actId="20577"/>
          <ac:spMkLst>
            <pc:docMk/>
            <pc:sldMk cId="1741187183" sldId="259"/>
            <ac:spMk id="3" creationId="{C46ED790-B911-4363-9E4B-39B6B5FCE59E}"/>
          </ac:spMkLst>
        </pc:spChg>
      </pc:sldChg>
      <pc:sldChg chg="modSp">
        <pc:chgData name="Guest User" userId="S::urn:spo:tenantanon#ad06ef22-d6dc-4a55-b4c1-c3a158f5f147::" providerId="AD" clId="Web-{298D95F4-1281-2901-3E4D-F203D5EEF89D}" dt="2026-02-24T05:59:31.770" v="4" actId="20577"/>
        <pc:sldMkLst>
          <pc:docMk/>
          <pc:sldMk cId="308195611" sldId="260"/>
        </pc:sldMkLst>
        <pc:spChg chg="mod">
          <ac:chgData name="Guest User" userId="S::urn:spo:tenantanon#ad06ef22-d6dc-4a55-b4c1-c3a158f5f147::" providerId="AD" clId="Web-{298D95F4-1281-2901-3E4D-F203D5EEF89D}" dt="2026-02-24T05:59:31.770" v="4" actId="20577"/>
          <ac:spMkLst>
            <pc:docMk/>
            <pc:sldMk cId="308195611" sldId="260"/>
            <ac:spMk id="3" creationId="{6E77542C-676C-4616-8042-1D07436B8F46}"/>
          </ac:spMkLst>
        </pc:spChg>
      </pc:sldChg>
      <pc:sldChg chg="modSp">
        <pc:chgData name="Guest User" userId="S::urn:spo:tenantanon#ad06ef22-d6dc-4a55-b4c1-c3a158f5f147::" providerId="AD" clId="Web-{298D95F4-1281-2901-3E4D-F203D5EEF89D}" dt="2026-02-24T05:59:36.582" v="5" actId="20577"/>
        <pc:sldMkLst>
          <pc:docMk/>
          <pc:sldMk cId="496619649" sldId="261"/>
        </pc:sldMkLst>
        <pc:spChg chg="mod">
          <ac:chgData name="Guest User" userId="S::urn:spo:tenantanon#ad06ef22-d6dc-4a55-b4c1-c3a158f5f147::" providerId="AD" clId="Web-{298D95F4-1281-2901-3E4D-F203D5EEF89D}" dt="2026-02-24T05:59:36.582" v="5" actId="20577"/>
          <ac:spMkLst>
            <pc:docMk/>
            <pc:sldMk cId="496619649" sldId="261"/>
            <ac:spMk id="3" creationId="{D937833B-3907-4B83-9F77-D0F494B71546}"/>
          </ac:spMkLst>
        </pc:spChg>
      </pc:sldChg>
      <pc:sldChg chg="modSp">
        <pc:chgData name="Guest User" userId="S::urn:spo:tenantanon#ad06ef22-d6dc-4a55-b4c1-c3a158f5f147::" providerId="AD" clId="Web-{298D95F4-1281-2901-3E4D-F203D5EEF89D}" dt="2026-02-24T05:59:41.410" v="6" actId="20577"/>
        <pc:sldMkLst>
          <pc:docMk/>
          <pc:sldMk cId="3463141070" sldId="262"/>
        </pc:sldMkLst>
        <pc:spChg chg="mod">
          <ac:chgData name="Guest User" userId="S::urn:spo:tenantanon#ad06ef22-d6dc-4a55-b4c1-c3a158f5f147::" providerId="AD" clId="Web-{298D95F4-1281-2901-3E4D-F203D5EEF89D}" dt="2026-02-24T05:59:41.410" v="6" actId="20577"/>
          <ac:spMkLst>
            <pc:docMk/>
            <pc:sldMk cId="3463141070" sldId="262"/>
            <ac:spMk id="3" creationId="{9644AC4F-2932-4F44-A84F-2F39667FE8D6}"/>
          </ac:spMkLst>
        </pc:spChg>
      </pc:sldChg>
      <pc:sldChg chg="modSp">
        <pc:chgData name="Guest User" userId="S::urn:spo:tenantanon#ad06ef22-d6dc-4a55-b4c1-c3a158f5f147::" providerId="AD" clId="Web-{298D95F4-1281-2901-3E4D-F203D5EEF89D}" dt="2026-02-24T05:59:56.036" v="7" actId="20577"/>
        <pc:sldMkLst>
          <pc:docMk/>
          <pc:sldMk cId="3130655203" sldId="263"/>
        </pc:sldMkLst>
        <pc:spChg chg="mod">
          <ac:chgData name="Guest User" userId="S::urn:spo:tenantanon#ad06ef22-d6dc-4a55-b4c1-c3a158f5f147::" providerId="AD" clId="Web-{298D95F4-1281-2901-3E4D-F203D5EEF89D}" dt="2026-02-24T05:59:56.036" v="7" actId="20577"/>
          <ac:spMkLst>
            <pc:docMk/>
            <pc:sldMk cId="3130655203" sldId="263"/>
            <ac:spMk id="3" creationId="{FF997BAE-B1B3-43F5-817C-987B4C2A3BFF}"/>
          </ac:spMkLst>
        </pc:spChg>
      </pc:sldChg>
      <pc:sldChg chg="modSp">
        <pc:chgData name="Guest User" userId="S::urn:spo:tenantanon#ad06ef22-d6dc-4a55-b4c1-c3a158f5f147::" providerId="AD" clId="Web-{298D95F4-1281-2901-3E4D-F203D5EEF89D}" dt="2026-02-24T06:00:01.192" v="8" actId="20577"/>
        <pc:sldMkLst>
          <pc:docMk/>
          <pc:sldMk cId="424759971" sldId="264"/>
        </pc:sldMkLst>
        <pc:spChg chg="mod">
          <ac:chgData name="Guest User" userId="S::urn:spo:tenantanon#ad06ef22-d6dc-4a55-b4c1-c3a158f5f147::" providerId="AD" clId="Web-{298D95F4-1281-2901-3E4D-F203D5EEF89D}" dt="2026-02-24T06:00:01.192" v="8" actId="20577"/>
          <ac:spMkLst>
            <pc:docMk/>
            <pc:sldMk cId="424759971" sldId="264"/>
            <ac:spMk id="3" creationId="{B2658A8F-6943-4E76-8967-55B21E8D3429}"/>
          </ac:spMkLst>
        </pc:spChg>
      </pc:sldChg>
      <pc:sldChg chg="modSp">
        <pc:chgData name="Guest User" userId="S::urn:spo:tenantanon#ad06ef22-d6dc-4a55-b4c1-c3a158f5f147::" providerId="AD" clId="Web-{298D95F4-1281-2901-3E4D-F203D5EEF89D}" dt="2026-02-24T06:06:18.081" v="17" actId="20577"/>
        <pc:sldMkLst>
          <pc:docMk/>
          <pc:sldMk cId="3784711537" sldId="265"/>
        </pc:sldMkLst>
        <pc:spChg chg="mod">
          <ac:chgData name="Guest User" userId="S::urn:spo:tenantanon#ad06ef22-d6dc-4a55-b4c1-c3a158f5f147::" providerId="AD" clId="Web-{298D95F4-1281-2901-3E4D-F203D5EEF89D}" dt="2026-02-24T06:06:18.081" v="17" actId="20577"/>
          <ac:spMkLst>
            <pc:docMk/>
            <pc:sldMk cId="3784711537" sldId="265"/>
            <ac:spMk id="3" creationId="{DEFFB6BC-B8A2-4F6A-861D-C36B251B727B}"/>
          </ac:spMkLst>
        </pc:spChg>
      </pc:sldChg>
      <pc:sldChg chg="modSp">
        <pc:chgData name="Guest User" userId="S::urn:spo:tenantanon#ad06ef22-d6dc-4a55-b4c1-c3a158f5f147::" providerId="AD" clId="Web-{298D95F4-1281-2901-3E4D-F203D5EEF89D}" dt="2026-02-24T06:00:06.083" v="9" actId="20577"/>
        <pc:sldMkLst>
          <pc:docMk/>
          <pc:sldMk cId="816418403" sldId="267"/>
        </pc:sldMkLst>
        <pc:spChg chg="mod">
          <ac:chgData name="Guest User" userId="S::urn:spo:tenantanon#ad06ef22-d6dc-4a55-b4c1-c3a158f5f147::" providerId="AD" clId="Web-{298D95F4-1281-2901-3E4D-F203D5EEF89D}" dt="2026-02-24T06:00:06.083" v="9" actId="20577"/>
          <ac:spMkLst>
            <pc:docMk/>
            <pc:sldMk cId="816418403" sldId="267"/>
            <ac:spMk id="3" creationId="{B2658A8F-6943-4E76-8967-55B21E8D3429}"/>
          </ac:spMkLst>
        </pc:spChg>
      </pc:sldChg>
    </pc:docChg>
  </pc:docChgLst>
  <pc:docChgLst>
    <pc:chgData name="Guest User" userId="S::urn:spo:tenantanon#ad06ef22-d6dc-4a55-b4c1-c3a158f5f147::" providerId="AD" clId="Web-{7303C101-371A-6AEB-380C-D84C382AAB3C}"/>
    <pc:docChg chg="modSld">
      <pc:chgData name="Guest User" userId="S::urn:spo:tenantanon#ad06ef22-d6dc-4a55-b4c1-c3a158f5f147::" providerId="AD" clId="Web-{7303C101-371A-6AEB-380C-D84C382AAB3C}" dt="2026-03-11T09:39:36.450" v="1" actId="14100"/>
      <pc:docMkLst>
        <pc:docMk/>
      </pc:docMkLst>
      <pc:sldChg chg="modSp">
        <pc:chgData name="Guest User" userId="S::urn:spo:tenantanon#ad06ef22-d6dc-4a55-b4c1-c3a158f5f147::" providerId="AD" clId="Web-{7303C101-371A-6AEB-380C-D84C382AAB3C}" dt="2026-03-11T09:39:36.450" v="1" actId="14100"/>
        <pc:sldMkLst>
          <pc:docMk/>
          <pc:sldMk cId="308195611" sldId="260"/>
        </pc:sldMkLst>
        <pc:spChg chg="mod">
          <ac:chgData name="Guest User" userId="S::urn:spo:tenantanon#ad06ef22-d6dc-4a55-b4c1-c3a158f5f147::" providerId="AD" clId="Web-{7303C101-371A-6AEB-380C-D84C382AAB3C}" dt="2026-03-11T09:39:36.450" v="1" actId="14100"/>
          <ac:spMkLst>
            <pc:docMk/>
            <pc:sldMk cId="308195611" sldId="260"/>
            <ac:spMk id="2" creationId="{DF7D89FB-6AE0-4387-B7C5-B6BE39BA7579}"/>
          </ac:spMkLst>
        </pc:spChg>
      </pc:sldChg>
    </pc:docChg>
  </pc:docChgLst>
</pc:chgInfo>
</file>

<file path=ppt/diagrams/_rels/data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s>
</file>

<file path=ppt/diagrams/_rels/drawing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1F6A618-09FA-4FA9-896D-79F33E5C14FB}" type="doc">
      <dgm:prSet loTypeId="urn:microsoft.com/office/officeart/2005/8/layout/vList5" loCatId="list" qsTypeId="urn:microsoft.com/office/officeart/2005/8/quickstyle/simple1" qsCatId="simple" csTypeId="urn:microsoft.com/office/officeart/2005/8/colors/colorful1" csCatId="colorful"/>
      <dgm:spPr/>
      <dgm:t>
        <a:bodyPr/>
        <a:lstStyle/>
        <a:p>
          <a:endParaRPr lang="en-US"/>
        </a:p>
      </dgm:t>
    </dgm:pt>
    <dgm:pt modelId="{0D63C321-B6BF-4F44-8460-059C4DB479A8}" type="pres">
      <dgm:prSet presAssocID="{21F6A618-09FA-4FA9-896D-79F33E5C14FB}" presName="Name0" presStyleCnt="0">
        <dgm:presLayoutVars>
          <dgm:dir/>
          <dgm:animLvl val="lvl"/>
          <dgm:resizeHandles val="exact"/>
        </dgm:presLayoutVars>
      </dgm:prSet>
      <dgm:spPr/>
      <dgm:t>
        <a:bodyPr/>
        <a:lstStyle/>
        <a:p>
          <a:endParaRPr lang="en-US"/>
        </a:p>
      </dgm:t>
    </dgm:pt>
  </dgm:ptLst>
  <dgm:cxnLst>
    <dgm:cxn modelId="{1BD35A9B-9895-054D-B983-D76CB588D357}" type="presOf" srcId="{21F6A618-09FA-4FA9-896D-79F33E5C14FB}" destId="{0D63C321-B6BF-4F44-8460-059C4DB479A8}"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4990C0E-385A-46E1-A872-03852ADA83AA}" type="doc">
      <dgm:prSet loTypeId="urn:microsoft.com/office/officeart/2008/layout/BendingPictureSemiTransparentText" loCatId="picture" qsTypeId="urn:microsoft.com/office/officeart/2005/8/quickstyle/simple1" qsCatId="simple" csTypeId="urn:microsoft.com/office/officeart/2005/8/colors/accent1_2" csCatId="accent1" phldr="1"/>
      <dgm:spPr/>
      <dgm:t>
        <a:bodyPr/>
        <a:lstStyle/>
        <a:p>
          <a:endParaRPr lang="en-US"/>
        </a:p>
      </dgm:t>
    </dgm:pt>
    <dgm:pt modelId="{2A6E1FD2-C312-44E0-8D4F-62D0B25DEF3D}">
      <dgm:prSet/>
      <dgm:spPr/>
      <dgm:t>
        <a:bodyPr/>
        <a:lstStyle/>
        <a:p>
          <a:r>
            <a:rPr lang="en-IN"/>
            <a:t>AB</a:t>
          </a:r>
          <a:endParaRPr lang="en-US"/>
        </a:p>
      </dgm:t>
    </dgm:pt>
    <dgm:pt modelId="{7161A157-77DD-4654-83AD-85053500904D}" type="sibTrans" cxnId="{B83602C7-9F62-4F8B-A8CB-890C8908B36E}">
      <dgm:prSet/>
      <dgm:spPr/>
      <dgm:t>
        <a:bodyPr/>
        <a:lstStyle/>
        <a:p>
          <a:endParaRPr lang="en-US"/>
        </a:p>
      </dgm:t>
    </dgm:pt>
    <dgm:pt modelId="{44F95057-5241-437B-867E-E88C19DED002}" type="parTrans" cxnId="{B83602C7-9F62-4F8B-A8CB-890C8908B36E}">
      <dgm:prSet/>
      <dgm:spPr/>
      <dgm:t>
        <a:bodyPr/>
        <a:lstStyle/>
        <a:p>
          <a:endParaRPr lang="en-US"/>
        </a:p>
      </dgm:t>
    </dgm:pt>
    <dgm:pt modelId="{E51EB8E7-DD72-46C1-B39A-364CA3CDCF01}" type="pres">
      <dgm:prSet presAssocID="{D4990C0E-385A-46E1-A872-03852ADA83AA}" presName="Name0" presStyleCnt="0">
        <dgm:presLayoutVars>
          <dgm:dir/>
          <dgm:resizeHandles val="exact"/>
        </dgm:presLayoutVars>
      </dgm:prSet>
      <dgm:spPr/>
      <dgm:t>
        <a:bodyPr/>
        <a:lstStyle/>
        <a:p>
          <a:endParaRPr lang="en-US"/>
        </a:p>
      </dgm:t>
    </dgm:pt>
    <dgm:pt modelId="{9B283DD1-F684-445E-A8B5-7FFD75260CAB}" type="pres">
      <dgm:prSet presAssocID="{2A6E1FD2-C312-44E0-8D4F-62D0B25DEF3D}" presName="composite" presStyleCnt="0"/>
      <dgm:spPr/>
    </dgm:pt>
    <dgm:pt modelId="{31B2C2FD-2E8E-46DF-BBEC-7E89A21861D6}" type="pres">
      <dgm:prSet presAssocID="{2A6E1FD2-C312-44E0-8D4F-62D0B25DEF3D}" presName="rect1" presStyleLbl="bgShp" presStyleIdx="0" presStyleCnt="1" custLinFactY="-59823" custLinFactNeighborX="46516" custLinFactNeighborY="-100000"/>
      <dgm:spPr/>
    </dgm:pt>
    <dgm:pt modelId="{244603A0-6E4C-43F7-8EA3-82CF4D464933}" type="pres">
      <dgm:prSet presAssocID="{2A6E1FD2-C312-44E0-8D4F-62D0B25DEF3D}" presName="rect2" presStyleLbl="trBgShp" presStyleIdx="0" presStyleCnt="1">
        <dgm:presLayoutVars>
          <dgm:bulletEnabled val="1"/>
        </dgm:presLayoutVars>
      </dgm:prSet>
      <dgm:spPr/>
      <dgm:t>
        <a:bodyPr/>
        <a:lstStyle/>
        <a:p>
          <a:endParaRPr lang="en-US"/>
        </a:p>
      </dgm:t>
    </dgm:pt>
  </dgm:ptLst>
  <dgm:cxnLst>
    <dgm:cxn modelId="{EBC72601-4ED0-4858-ACCE-246747221301}" type="presOf" srcId="{2A6E1FD2-C312-44E0-8D4F-62D0B25DEF3D}" destId="{244603A0-6E4C-43F7-8EA3-82CF4D464933}" srcOrd="0" destOrd="0" presId="urn:microsoft.com/office/officeart/2008/layout/BendingPictureSemiTransparentText"/>
    <dgm:cxn modelId="{B83602C7-9F62-4F8B-A8CB-890C8908B36E}" srcId="{D4990C0E-385A-46E1-A872-03852ADA83AA}" destId="{2A6E1FD2-C312-44E0-8D4F-62D0B25DEF3D}" srcOrd="0" destOrd="0" parTransId="{44F95057-5241-437B-867E-E88C19DED002}" sibTransId="{7161A157-77DD-4654-83AD-85053500904D}"/>
    <dgm:cxn modelId="{1F96EBE2-BD2C-45F6-A051-87CF3807C652}" type="presOf" srcId="{D4990C0E-385A-46E1-A872-03852ADA83AA}" destId="{E51EB8E7-DD72-46C1-B39A-364CA3CDCF01}" srcOrd="0" destOrd="0" presId="urn:microsoft.com/office/officeart/2008/layout/BendingPictureSemiTransparentText"/>
    <dgm:cxn modelId="{40F84F1F-5198-4E65-83DD-8C930DCA02B4}" type="presParOf" srcId="{E51EB8E7-DD72-46C1-B39A-364CA3CDCF01}" destId="{9B283DD1-F684-445E-A8B5-7FFD75260CAB}" srcOrd="0" destOrd="0" presId="urn:microsoft.com/office/officeart/2008/layout/BendingPictureSemiTransparentText"/>
    <dgm:cxn modelId="{C568537B-413C-4D48-8D09-EE659F3ACABE}" type="presParOf" srcId="{9B283DD1-F684-445E-A8B5-7FFD75260CAB}" destId="{31B2C2FD-2E8E-46DF-BBEC-7E89A21861D6}" srcOrd="0" destOrd="0" presId="urn:microsoft.com/office/officeart/2008/layout/BendingPictureSemiTransparentText"/>
    <dgm:cxn modelId="{CD838BCD-833B-454F-9575-AF1B7787557A}" type="presParOf" srcId="{9B283DD1-F684-445E-A8B5-7FFD75260CAB}" destId="{244603A0-6E4C-43F7-8EA3-82CF4D464933}" srcOrd="1" destOrd="0" presId="urn:microsoft.com/office/officeart/2008/layout/BendingPictureSemiTransparentTex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4990C0E-385A-46E1-A872-03852ADA83AA}" type="doc">
      <dgm:prSet loTypeId="urn:microsoft.com/office/officeart/2008/layout/BendingPictureSemiTransparentText" loCatId="picture" qsTypeId="urn:microsoft.com/office/officeart/2005/8/quickstyle/simple1" qsCatId="simple" csTypeId="urn:microsoft.com/office/officeart/2005/8/colors/accent1_2" csCatId="accent1" phldr="1"/>
      <dgm:spPr/>
      <dgm:t>
        <a:bodyPr/>
        <a:lstStyle/>
        <a:p>
          <a:endParaRPr lang="en-US"/>
        </a:p>
      </dgm:t>
    </dgm:pt>
    <dgm:pt modelId="{6E9E8653-8BC8-4C52-A35B-2769E502392D}">
      <dgm:prSet/>
      <dgm:spPr/>
      <dgm:t>
        <a:bodyPr/>
        <a:lstStyle/>
        <a:p>
          <a:r>
            <a:rPr lang="en-US" dirty="0"/>
            <a:t>Ashi</a:t>
          </a:r>
        </a:p>
      </dgm:t>
    </dgm:pt>
    <dgm:pt modelId="{82B45140-462E-4C8B-9B25-E35F1EF90BB3}" type="parTrans" cxnId="{BE2EDDE4-F6AF-4ADF-B7B8-8B53B7B8A88E}">
      <dgm:prSet/>
      <dgm:spPr/>
      <dgm:t>
        <a:bodyPr/>
        <a:lstStyle/>
        <a:p>
          <a:endParaRPr lang="en-US"/>
        </a:p>
      </dgm:t>
    </dgm:pt>
    <dgm:pt modelId="{BC7146B3-9BDF-4553-B199-2DB02A9555FA}" type="sibTrans" cxnId="{BE2EDDE4-F6AF-4ADF-B7B8-8B53B7B8A88E}">
      <dgm:prSet/>
      <dgm:spPr/>
      <dgm:t>
        <a:bodyPr/>
        <a:lstStyle/>
        <a:p>
          <a:endParaRPr lang="en-US"/>
        </a:p>
      </dgm:t>
    </dgm:pt>
    <dgm:pt modelId="{629E7743-9A8E-4EF3-818E-D59C73E8F9D0}">
      <dgm:prSet/>
      <dgm:spPr/>
      <dgm:t>
        <a:bodyPr/>
        <a:lstStyle/>
        <a:p>
          <a:r>
            <a:rPr lang="en-IN" dirty="0"/>
            <a:t>Kashish Gautam</a:t>
          </a:r>
        </a:p>
      </dgm:t>
    </dgm:pt>
    <dgm:pt modelId="{608BF441-284A-40FA-A10C-B68FB6B15433}" type="parTrans" cxnId="{C2B66776-04BB-481A-BC7B-A044D25D7FFE}">
      <dgm:prSet/>
      <dgm:spPr/>
      <dgm:t>
        <a:bodyPr/>
        <a:lstStyle/>
        <a:p>
          <a:endParaRPr lang="en-IN"/>
        </a:p>
      </dgm:t>
    </dgm:pt>
    <dgm:pt modelId="{BE558535-0C49-4CBE-B386-003378302491}" type="sibTrans" cxnId="{C2B66776-04BB-481A-BC7B-A044D25D7FFE}">
      <dgm:prSet/>
      <dgm:spPr/>
      <dgm:t>
        <a:bodyPr/>
        <a:lstStyle/>
        <a:p>
          <a:endParaRPr lang="en-IN"/>
        </a:p>
      </dgm:t>
    </dgm:pt>
    <dgm:pt modelId="{52DFE429-4D8F-4E83-8247-35E3D421C5BC}">
      <dgm:prSet/>
      <dgm:spPr/>
      <dgm:t>
        <a:bodyPr/>
        <a:lstStyle/>
        <a:p>
          <a:r>
            <a:rPr lang="en-US" dirty="0"/>
            <a:t>Bhoomi</a:t>
          </a:r>
        </a:p>
      </dgm:t>
    </dgm:pt>
    <dgm:pt modelId="{8E98556B-D954-4E58-94F6-DB98180A4585}" type="sibTrans" cxnId="{48BC4E36-219E-4C17-9D2E-465B191DCFE4}">
      <dgm:prSet/>
      <dgm:spPr/>
      <dgm:t>
        <a:bodyPr/>
        <a:lstStyle/>
        <a:p>
          <a:endParaRPr lang="en-US"/>
        </a:p>
      </dgm:t>
    </dgm:pt>
    <dgm:pt modelId="{29178585-482F-44F1-8411-EEE4FEB0A18B}" type="parTrans" cxnId="{48BC4E36-219E-4C17-9D2E-465B191DCFE4}">
      <dgm:prSet/>
      <dgm:spPr/>
      <dgm:t>
        <a:bodyPr/>
        <a:lstStyle/>
        <a:p>
          <a:endParaRPr lang="en-US"/>
        </a:p>
      </dgm:t>
    </dgm:pt>
    <dgm:pt modelId="{E51EB8E7-DD72-46C1-B39A-364CA3CDCF01}" type="pres">
      <dgm:prSet presAssocID="{D4990C0E-385A-46E1-A872-03852ADA83AA}" presName="Name0" presStyleCnt="0">
        <dgm:presLayoutVars>
          <dgm:dir/>
          <dgm:resizeHandles val="exact"/>
        </dgm:presLayoutVars>
      </dgm:prSet>
      <dgm:spPr/>
      <dgm:t>
        <a:bodyPr/>
        <a:lstStyle/>
        <a:p>
          <a:endParaRPr lang="en-US"/>
        </a:p>
      </dgm:t>
    </dgm:pt>
    <dgm:pt modelId="{53FF62FF-A0A1-4EA0-9B3D-C59EDFD13FC9}" type="pres">
      <dgm:prSet presAssocID="{52DFE429-4D8F-4E83-8247-35E3D421C5BC}" presName="composite" presStyleCnt="0"/>
      <dgm:spPr/>
    </dgm:pt>
    <dgm:pt modelId="{0205B927-6FCD-48F4-B5CB-61E08D0B1DC7}" type="pres">
      <dgm:prSet presAssocID="{52DFE429-4D8F-4E83-8247-35E3D421C5BC}" presName="rect1" presStyleLbl="bgShp" presStyleIdx="0" presStyleCnt="3" custLinFactNeighborX="3584" custLinFactNeighborY="1832"/>
      <dgm:spPr>
        <a:blipFill>
          <a:blip xmlns:r="http://schemas.openxmlformats.org/officeDocument/2006/relationships" r:embed="rId1"/>
          <a:srcRect/>
          <a:stretch>
            <a:fillRect t="-54000" b="-54000"/>
          </a:stretch>
        </a:blipFill>
      </dgm:spPr>
    </dgm:pt>
    <dgm:pt modelId="{1C170DB8-1B1C-4904-A41A-141F44C4B928}" type="pres">
      <dgm:prSet presAssocID="{52DFE429-4D8F-4E83-8247-35E3D421C5BC}" presName="rect2" presStyleLbl="trBgShp" presStyleIdx="0" presStyleCnt="3">
        <dgm:presLayoutVars>
          <dgm:bulletEnabled val="1"/>
        </dgm:presLayoutVars>
      </dgm:prSet>
      <dgm:spPr/>
      <dgm:t>
        <a:bodyPr/>
        <a:lstStyle/>
        <a:p>
          <a:endParaRPr lang="en-US"/>
        </a:p>
      </dgm:t>
    </dgm:pt>
    <dgm:pt modelId="{FC86206A-F1F4-4413-9358-F5DB48E5964D}" type="pres">
      <dgm:prSet presAssocID="{8E98556B-D954-4E58-94F6-DB98180A4585}" presName="sibTrans" presStyleCnt="0"/>
      <dgm:spPr/>
    </dgm:pt>
    <dgm:pt modelId="{D33AF38E-8E2B-494E-8442-160A35084E7D}" type="pres">
      <dgm:prSet presAssocID="{6E9E8653-8BC8-4C52-A35B-2769E502392D}" presName="composite" presStyleCnt="0"/>
      <dgm:spPr/>
    </dgm:pt>
    <dgm:pt modelId="{21CA5776-F04D-4D27-BE76-A00E5A36C5E0}" type="pres">
      <dgm:prSet presAssocID="{6E9E8653-8BC8-4C52-A35B-2769E502392D}" presName="rect1" presStyleLbl="bgShp" presStyleIdx="1" presStyleCnt="3"/>
      <dgm:spPr>
        <a:blipFill>
          <a:blip xmlns:r="http://schemas.openxmlformats.org/officeDocument/2006/relationships" r:embed="rId2"/>
          <a:srcRect/>
          <a:stretch>
            <a:fillRect t="-14000" b="-14000"/>
          </a:stretch>
        </a:blipFill>
      </dgm:spPr>
    </dgm:pt>
    <dgm:pt modelId="{AB53B20B-C6D5-4022-A9C6-6CE1E16884D9}" type="pres">
      <dgm:prSet presAssocID="{6E9E8653-8BC8-4C52-A35B-2769E502392D}" presName="rect2" presStyleLbl="trBgShp" presStyleIdx="1" presStyleCnt="3">
        <dgm:presLayoutVars>
          <dgm:bulletEnabled val="1"/>
        </dgm:presLayoutVars>
      </dgm:prSet>
      <dgm:spPr/>
      <dgm:t>
        <a:bodyPr/>
        <a:lstStyle/>
        <a:p>
          <a:endParaRPr lang="en-US"/>
        </a:p>
      </dgm:t>
    </dgm:pt>
    <dgm:pt modelId="{41C26BD0-DEB8-4259-BEAD-7C972AA891D0}" type="pres">
      <dgm:prSet presAssocID="{BC7146B3-9BDF-4553-B199-2DB02A9555FA}" presName="sibTrans" presStyleCnt="0"/>
      <dgm:spPr/>
    </dgm:pt>
    <dgm:pt modelId="{3250DF4C-C6DF-4771-849A-2A64FAF6EF2B}" type="pres">
      <dgm:prSet presAssocID="{629E7743-9A8E-4EF3-818E-D59C73E8F9D0}" presName="composite" presStyleCnt="0"/>
      <dgm:spPr/>
    </dgm:pt>
    <dgm:pt modelId="{102ABEBB-8E97-4236-8D77-959DBE8C7829}" type="pres">
      <dgm:prSet presAssocID="{629E7743-9A8E-4EF3-818E-D59C73E8F9D0}" presName="rect1" presStyleLbl="bgShp" presStyleIdx="2" presStyleCnt="3" custLinFactNeighborX="-53013" custLinFactNeighborY="-3556"/>
      <dgm:spPr>
        <a:blipFill>
          <a:blip xmlns:r="http://schemas.openxmlformats.org/officeDocument/2006/relationships" r:embed="rId3"/>
          <a:srcRect/>
          <a:stretch>
            <a:fillRect t="-10000" b="-10000"/>
          </a:stretch>
        </a:blipFill>
      </dgm:spPr>
    </dgm:pt>
    <dgm:pt modelId="{26932341-5691-4012-B69F-F35D940F88F3}" type="pres">
      <dgm:prSet presAssocID="{629E7743-9A8E-4EF3-818E-D59C73E8F9D0}" presName="rect2" presStyleLbl="trBgShp" presStyleIdx="2" presStyleCnt="3" custLinFactNeighborX="-51462" custLinFactNeighborY="9909">
        <dgm:presLayoutVars>
          <dgm:bulletEnabled val="1"/>
        </dgm:presLayoutVars>
      </dgm:prSet>
      <dgm:spPr/>
      <dgm:t>
        <a:bodyPr/>
        <a:lstStyle/>
        <a:p>
          <a:endParaRPr lang="en-US"/>
        </a:p>
      </dgm:t>
    </dgm:pt>
  </dgm:ptLst>
  <dgm:cxnLst>
    <dgm:cxn modelId="{C2B66776-04BB-481A-BC7B-A044D25D7FFE}" srcId="{D4990C0E-385A-46E1-A872-03852ADA83AA}" destId="{629E7743-9A8E-4EF3-818E-D59C73E8F9D0}" srcOrd="2" destOrd="0" parTransId="{608BF441-284A-40FA-A10C-B68FB6B15433}" sibTransId="{BE558535-0C49-4CBE-B386-003378302491}"/>
    <dgm:cxn modelId="{E1AD0998-6955-4600-8AB9-8264374B576C}" type="presOf" srcId="{52DFE429-4D8F-4E83-8247-35E3D421C5BC}" destId="{1C170DB8-1B1C-4904-A41A-141F44C4B928}" srcOrd="0" destOrd="0" presId="urn:microsoft.com/office/officeart/2008/layout/BendingPictureSemiTransparentText"/>
    <dgm:cxn modelId="{48BC4E36-219E-4C17-9D2E-465B191DCFE4}" srcId="{D4990C0E-385A-46E1-A872-03852ADA83AA}" destId="{52DFE429-4D8F-4E83-8247-35E3D421C5BC}" srcOrd="0" destOrd="0" parTransId="{29178585-482F-44F1-8411-EEE4FEB0A18B}" sibTransId="{8E98556B-D954-4E58-94F6-DB98180A4585}"/>
    <dgm:cxn modelId="{BE2EDDE4-F6AF-4ADF-B7B8-8B53B7B8A88E}" srcId="{D4990C0E-385A-46E1-A872-03852ADA83AA}" destId="{6E9E8653-8BC8-4C52-A35B-2769E502392D}" srcOrd="1" destOrd="0" parTransId="{82B45140-462E-4C8B-9B25-E35F1EF90BB3}" sibTransId="{BC7146B3-9BDF-4553-B199-2DB02A9555FA}"/>
    <dgm:cxn modelId="{2BAC3D3C-D135-46BE-AEC0-44743D6067E5}" type="presOf" srcId="{629E7743-9A8E-4EF3-818E-D59C73E8F9D0}" destId="{26932341-5691-4012-B69F-F35D940F88F3}" srcOrd="0" destOrd="0" presId="urn:microsoft.com/office/officeart/2008/layout/BendingPictureSemiTransparentText"/>
    <dgm:cxn modelId="{858611F9-94F1-4024-A18B-1F3D86E2603F}" type="presOf" srcId="{6E9E8653-8BC8-4C52-A35B-2769E502392D}" destId="{AB53B20B-C6D5-4022-A9C6-6CE1E16884D9}" srcOrd="0" destOrd="0" presId="urn:microsoft.com/office/officeart/2008/layout/BendingPictureSemiTransparentText"/>
    <dgm:cxn modelId="{1F96EBE2-BD2C-45F6-A051-87CF3807C652}" type="presOf" srcId="{D4990C0E-385A-46E1-A872-03852ADA83AA}" destId="{E51EB8E7-DD72-46C1-B39A-364CA3CDCF01}" srcOrd="0" destOrd="0" presId="urn:microsoft.com/office/officeart/2008/layout/BendingPictureSemiTransparentText"/>
    <dgm:cxn modelId="{C370489E-C397-4B77-8F76-3BBC0166E5B0}" type="presParOf" srcId="{E51EB8E7-DD72-46C1-B39A-364CA3CDCF01}" destId="{53FF62FF-A0A1-4EA0-9B3D-C59EDFD13FC9}" srcOrd="0" destOrd="0" presId="urn:microsoft.com/office/officeart/2008/layout/BendingPictureSemiTransparentText"/>
    <dgm:cxn modelId="{914AA82B-E000-4EE7-87D5-73A5FB684C07}" type="presParOf" srcId="{53FF62FF-A0A1-4EA0-9B3D-C59EDFD13FC9}" destId="{0205B927-6FCD-48F4-B5CB-61E08D0B1DC7}" srcOrd="0" destOrd="0" presId="urn:microsoft.com/office/officeart/2008/layout/BendingPictureSemiTransparentText"/>
    <dgm:cxn modelId="{FA4A7E8C-462E-425A-931B-9ACD0DA6658C}" type="presParOf" srcId="{53FF62FF-A0A1-4EA0-9B3D-C59EDFD13FC9}" destId="{1C170DB8-1B1C-4904-A41A-141F44C4B928}" srcOrd="1" destOrd="0" presId="urn:microsoft.com/office/officeart/2008/layout/BendingPictureSemiTransparentText"/>
    <dgm:cxn modelId="{7A60C501-11FE-453E-8C54-28D8D23AFC88}" type="presParOf" srcId="{E51EB8E7-DD72-46C1-B39A-364CA3CDCF01}" destId="{FC86206A-F1F4-4413-9358-F5DB48E5964D}" srcOrd="1" destOrd="0" presId="urn:microsoft.com/office/officeart/2008/layout/BendingPictureSemiTransparentText"/>
    <dgm:cxn modelId="{46A835FD-93A9-4CCA-B712-5CBB49C93B21}" type="presParOf" srcId="{E51EB8E7-DD72-46C1-B39A-364CA3CDCF01}" destId="{D33AF38E-8E2B-494E-8442-160A35084E7D}" srcOrd="2" destOrd="0" presId="urn:microsoft.com/office/officeart/2008/layout/BendingPictureSemiTransparentText"/>
    <dgm:cxn modelId="{44CEE286-A7D4-48B0-B2E3-AAB6E4DFB9F9}" type="presParOf" srcId="{D33AF38E-8E2B-494E-8442-160A35084E7D}" destId="{21CA5776-F04D-4D27-BE76-A00E5A36C5E0}" srcOrd="0" destOrd="0" presId="urn:microsoft.com/office/officeart/2008/layout/BendingPictureSemiTransparentText"/>
    <dgm:cxn modelId="{1B5879DB-70C7-43A8-B2A0-91AC44A40FDE}" type="presParOf" srcId="{D33AF38E-8E2B-494E-8442-160A35084E7D}" destId="{AB53B20B-C6D5-4022-A9C6-6CE1E16884D9}" srcOrd="1" destOrd="0" presId="urn:microsoft.com/office/officeart/2008/layout/BendingPictureSemiTransparentText"/>
    <dgm:cxn modelId="{0D85804E-4CB0-4CBE-9BE2-63B688E12D07}" type="presParOf" srcId="{E51EB8E7-DD72-46C1-B39A-364CA3CDCF01}" destId="{41C26BD0-DEB8-4259-BEAD-7C972AA891D0}" srcOrd="3" destOrd="0" presId="urn:microsoft.com/office/officeart/2008/layout/BendingPictureSemiTransparentText"/>
    <dgm:cxn modelId="{C045E4FA-5BCC-47CC-9A60-4384D53D6DB2}" type="presParOf" srcId="{E51EB8E7-DD72-46C1-B39A-364CA3CDCF01}" destId="{3250DF4C-C6DF-4771-849A-2A64FAF6EF2B}" srcOrd="4" destOrd="0" presId="urn:microsoft.com/office/officeart/2008/layout/BendingPictureSemiTransparentText"/>
    <dgm:cxn modelId="{8A97791A-E707-462E-AA56-5AAF6C2D5CED}" type="presParOf" srcId="{3250DF4C-C6DF-4771-849A-2A64FAF6EF2B}" destId="{102ABEBB-8E97-4236-8D77-959DBE8C7829}" srcOrd="0" destOrd="0" presId="urn:microsoft.com/office/officeart/2008/layout/BendingPictureSemiTransparentText"/>
    <dgm:cxn modelId="{83F1CD61-18CA-417A-A504-58F42A1292E5}" type="presParOf" srcId="{3250DF4C-C6DF-4771-849A-2A64FAF6EF2B}" destId="{26932341-5691-4012-B69F-F35D940F88F3}" srcOrd="1" destOrd="0" presId="urn:microsoft.com/office/officeart/2008/layout/BendingPictureSemiTransparentText"/>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B2C2FD-2E8E-46DF-BBEC-7E89A21861D6}">
      <dsp:nvSpPr>
        <dsp:cNvPr id="0" name=""/>
        <dsp:cNvSpPr/>
      </dsp:nvSpPr>
      <dsp:spPr>
        <a:xfrm>
          <a:off x="349581" y="0"/>
          <a:ext cx="2023230" cy="1734148"/>
        </a:xfrm>
        <a:prstGeom prst="rect">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44603A0-6E4C-43F7-8EA3-82CF4D464933}">
      <dsp:nvSpPr>
        <dsp:cNvPr id="0" name=""/>
        <dsp:cNvSpPr/>
      </dsp:nvSpPr>
      <dsp:spPr>
        <a:xfrm>
          <a:off x="174790" y="1213903"/>
          <a:ext cx="2023230" cy="416195"/>
        </a:xfrm>
        <a:prstGeom prst="rect">
          <a:avLst/>
        </a:prstGeom>
        <a:solidFill>
          <a:schemeClr val="accent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55880" tIns="55880" rIns="55880" bIns="55880" numCol="1" spcCol="1270" anchor="ctr" anchorCtr="0">
          <a:noAutofit/>
        </a:bodyPr>
        <a:lstStyle/>
        <a:p>
          <a:pPr lvl="0" algn="ctr" defTabSz="977900">
            <a:lnSpc>
              <a:spcPct val="90000"/>
            </a:lnSpc>
            <a:spcBef>
              <a:spcPct val="0"/>
            </a:spcBef>
            <a:spcAft>
              <a:spcPct val="35000"/>
            </a:spcAft>
          </a:pPr>
          <a:r>
            <a:rPr lang="en-IN" sz="2200" kern="1200"/>
            <a:t>AB</a:t>
          </a:r>
          <a:endParaRPr lang="en-US" sz="2200" kern="1200"/>
        </a:p>
      </dsp:txBody>
      <dsp:txXfrm>
        <a:off x="174790" y="1213903"/>
        <a:ext cx="2023230" cy="41619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05B927-6FCD-48F4-B5CB-61E08D0B1DC7}">
      <dsp:nvSpPr>
        <dsp:cNvPr id="0" name=""/>
        <dsp:cNvSpPr/>
      </dsp:nvSpPr>
      <dsp:spPr>
        <a:xfrm>
          <a:off x="566557" y="35131"/>
          <a:ext cx="2046711" cy="1754273"/>
        </a:xfrm>
        <a:prstGeom prst="rect">
          <a:avLst/>
        </a:prstGeom>
        <a:blipFill>
          <a:blip xmlns:r="http://schemas.openxmlformats.org/officeDocument/2006/relationships" r:embed="rId1"/>
          <a:srcRect/>
          <a:stretch>
            <a:fillRect t="-54000" b="-54000"/>
          </a:stretch>
        </a:blipFill>
        <a:ln>
          <a:noFill/>
        </a:ln>
        <a:effectLst/>
      </dsp:spPr>
      <dsp:style>
        <a:lnRef idx="0">
          <a:scrgbClr r="0" g="0" b="0"/>
        </a:lnRef>
        <a:fillRef idx="1">
          <a:scrgbClr r="0" g="0" b="0"/>
        </a:fillRef>
        <a:effectRef idx="0">
          <a:scrgbClr r="0" g="0" b="0"/>
        </a:effectRef>
        <a:fontRef idx="minor"/>
      </dsp:style>
    </dsp:sp>
    <dsp:sp modelId="{1C170DB8-1B1C-4904-A41A-141F44C4B928}">
      <dsp:nvSpPr>
        <dsp:cNvPr id="0" name=""/>
        <dsp:cNvSpPr/>
      </dsp:nvSpPr>
      <dsp:spPr>
        <a:xfrm>
          <a:off x="493203" y="1230985"/>
          <a:ext cx="2046711" cy="421025"/>
        </a:xfrm>
        <a:prstGeom prst="rect">
          <a:avLst/>
        </a:prstGeom>
        <a:solidFill>
          <a:schemeClr val="accent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55880" tIns="55880" rIns="55880" bIns="55880" numCol="1" spcCol="1270" anchor="ctr" anchorCtr="0">
          <a:noAutofit/>
        </a:bodyPr>
        <a:lstStyle/>
        <a:p>
          <a:pPr lvl="0" algn="ctr" defTabSz="977900">
            <a:lnSpc>
              <a:spcPct val="90000"/>
            </a:lnSpc>
            <a:spcBef>
              <a:spcPct val="0"/>
            </a:spcBef>
            <a:spcAft>
              <a:spcPct val="35000"/>
            </a:spcAft>
          </a:pPr>
          <a:r>
            <a:rPr lang="en-US" sz="2200" kern="1200" dirty="0"/>
            <a:t>Bhoomi</a:t>
          </a:r>
        </a:p>
      </dsp:txBody>
      <dsp:txXfrm>
        <a:off x="493203" y="1230985"/>
        <a:ext cx="2046711" cy="421025"/>
      </dsp:txXfrm>
    </dsp:sp>
    <dsp:sp modelId="{21CA5776-F04D-4D27-BE76-A00E5A36C5E0}">
      <dsp:nvSpPr>
        <dsp:cNvPr id="0" name=""/>
        <dsp:cNvSpPr/>
      </dsp:nvSpPr>
      <dsp:spPr>
        <a:xfrm>
          <a:off x="2748673" y="2993"/>
          <a:ext cx="2046711" cy="1754273"/>
        </a:xfrm>
        <a:prstGeom prst="rect">
          <a:avLst/>
        </a:prstGeom>
        <a:blipFill>
          <a:blip xmlns:r="http://schemas.openxmlformats.org/officeDocument/2006/relationships" r:embed="rId2"/>
          <a:srcRect/>
          <a:stretch>
            <a:fillRect t="-14000" b="-14000"/>
          </a:stretch>
        </a:blipFill>
        <a:ln>
          <a:noFill/>
        </a:ln>
        <a:effectLst/>
      </dsp:spPr>
      <dsp:style>
        <a:lnRef idx="0">
          <a:scrgbClr r="0" g="0" b="0"/>
        </a:lnRef>
        <a:fillRef idx="1">
          <a:scrgbClr r="0" g="0" b="0"/>
        </a:fillRef>
        <a:effectRef idx="0">
          <a:scrgbClr r="0" g="0" b="0"/>
        </a:effectRef>
        <a:fontRef idx="minor"/>
      </dsp:style>
    </dsp:sp>
    <dsp:sp modelId="{AB53B20B-C6D5-4022-A9C6-6CE1E16884D9}">
      <dsp:nvSpPr>
        <dsp:cNvPr id="0" name=""/>
        <dsp:cNvSpPr/>
      </dsp:nvSpPr>
      <dsp:spPr>
        <a:xfrm>
          <a:off x="2748673" y="1230985"/>
          <a:ext cx="2046711" cy="421025"/>
        </a:xfrm>
        <a:prstGeom prst="rect">
          <a:avLst/>
        </a:prstGeom>
        <a:solidFill>
          <a:schemeClr val="accent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55880" tIns="55880" rIns="55880" bIns="55880" numCol="1" spcCol="1270" anchor="ctr" anchorCtr="0">
          <a:noAutofit/>
        </a:bodyPr>
        <a:lstStyle/>
        <a:p>
          <a:pPr lvl="0" algn="ctr" defTabSz="977900">
            <a:lnSpc>
              <a:spcPct val="90000"/>
            </a:lnSpc>
            <a:spcBef>
              <a:spcPct val="0"/>
            </a:spcBef>
            <a:spcAft>
              <a:spcPct val="35000"/>
            </a:spcAft>
          </a:pPr>
          <a:r>
            <a:rPr lang="en-US" sz="2200" kern="1200" dirty="0"/>
            <a:t>Ashi</a:t>
          </a:r>
        </a:p>
      </dsp:txBody>
      <dsp:txXfrm>
        <a:off x="2748673" y="1230985"/>
        <a:ext cx="2046711" cy="421025"/>
      </dsp:txXfrm>
    </dsp:sp>
    <dsp:sp modelId="{102ABEBB-8E97-4236-8D77-959DBE8C7829}">
      <dsp:nvSpPr>
        <dsp:cNvPr id="0" name=""/>
        <dsp:cNvSpPr/>
      </dsp:nvSpPr>
      <dsp:spPr>
        <a:xfrm>
          <a:off x="535915" y="1899556"/>
          <a:ext cx="2046711" cy="1754273"/>
        </a:xfrm>
        <a:prstGeom prst="rect">
          <a:avLst/>
        </a:prstGeom>
        <a:blipFill>
          <a:blip xmlns:r="http://schemas.openxmlformats.org/officeDocument/2006/relationships" r:embed="rId3"/>
          <a:srcRect/>
          <a:stretch>
            <a:fillRect t="-10000" b="-10000"/>
          </a:stretch>
        </a:blipFill>
        <a:ln>
          <a:noFill/>
        </a:ln>
        <a:effectLst/>
      </dsp:spPr>
      <dsp:style>
        <a:lnRef idx="0">
          <a:scrgbClr r="0" g="0" b="0"/>
        </a:lnRef>
        <a:fillRef idx="1">
          <a:scrgbClr r="0" g="0" b="0"/>
        </a:fillRef>
        <a:effectRef idx="0">
          <a:scrgbClr r="0" g="0" b="0"/>
        </a:effectRef>
        <a:fontRef idx="minor"/>
      </dsp:style>
    </dsp:sp>
    <dsp:sp modelId="{26932341-5691-4012-B69F-F35D940F88F3}">
      <dsp:nvSpPr>
        <dsp:cNvPr id="0" name=""/>
        <dsp:cNvSpPr/>
      </dsp:nvSpPr>
      <dsp:spPr>
        <a:xfrm>
          <a:off x="567660" y="3231649"/>
          <a:ext cx="2046711" cy="421025"/>
        </a:xfrm>
        <a:prstGeom prst="rect">
          <a:avLst/>
        </a:prstGeom>
        <a:solidFill>
          <a:schemeClr val="accent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55880" tIns="55880" rIns="55880" bIns="55880" numCol="1" spcCol="1270" anchor="ctr" anchorCtr="0">
          <a:noAutofit/>
        </a:bodyPr>
        <a:lstStyle/>
        <a:p>
          <a:pPr lvl="0" algn="ctr" defTabSz="977900">
            <a:lnSpc>
              <a:spcPct val="90000"/>
            </a:lnSpc>
            <a:spcBef>
              <a:spcPct val="0"/>
            </a:spcBef>
            <a:spcAft>
              <a:spcPct val="35000"/>
            </a:spcAft>
          </a:pPr>
          <a:r>
            <a:rPr lang="en-IN" sz="2200" kern="1200" dirty="0"/>
            <a:t>Kashish Gautam</a:t>
          </a:r>
        </a:p>
      </dsp:txBody>
      <dsp:txXfrm>
        <a:off x="567660" y="3231649"/>
        <a:ext cx="2046711" cy="421025"/>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BendingPictureSemiTransparentText">
  <dgm:title val=""/>
  <dgm:desc val=""/>
  <dgm:catLst>
    <dgm:cat type="picture" pri="7000"/>
    <dgm:cat type="pictureconvert" pri="70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h" fact="1.19"/>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1667"/>
        </dgm:alg>
        <dgm:shape xmlns:r="http://schemas.openxmlformats.org/officeDocument/2006/relationships" r:blip="">
          <dgm:adjLst/>
        </dgm:shape>
        <dgm:constrLst>
          <dgm:constr type="l" for="ch" forName="rect1" refType="w" fact="0"/>
          <dgm:constr type="t" for="ch" forName="rect1" refType="h" fact="0"/>
          <dgm:constr type="w" for="ch" forName="rect1" refType="w"/>
          <dgm:constr type="h" for="ch" forName="rect1" refType="h"/>
          <dgm:constr type="l" for="ch" forName="rect2" refType="w" fact="0"/>
          <dgm:constr type="t" for="ch" forName="rect2" refType="h" fact="0.7"/>
          <dgm:constr type="w" for="ch" forName="rect2" refType="w"/>
          <dgm:constr type="h" for="ch" forName="rect2" refType="h" fact="0.24"/>
        </dgm:constrLst>
        <dgm:layoutNode name="rect1" styleLbl="bgShp">
          <dgm:alg type="sp"/>
          <dgm:shape xmlns:r="http://schemas.openxmlformats.org/officeDocument/2006/relationships" type="rect" r:blip="" blipPhldr="1">
            <dgm:adjLst/>
          </dgm:shape>
          <dgm:presOf/>
        </dgm:layoutNode>
        <dgm:layoutNode name="rect2" styleLbl="trBgShp">
          <dgm:varLst>
            <dgm:bulletEnabled val="1"/>
          </dgm:varLst>
          <dgm:alg type="tx">
            <dgm:param type="txAnchorVertCh" val="mid"/>
          </dgm:alg>
          <dgm:shape xmlns:r="http://schemas.openxmlformats.org/officeDocument/2006/relationships" type="rect" r:blip="">
            <dgm:adjLst/>
          </dgm:shape>
          <dgm:presOf axis="desOrSelf"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BendingPictureSemiTransparentText">
  <dgm:title val=""/>
  <dgm:desc val=""/>
  <dgm:catLst>
    <dgm:cat type="picture" pri="7000"/>
    <dgm:cat type="pictureconvert" pri="70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h" fact="1.19"/>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1667"/>
        </dgm:alg>
        <dgm:shape xmlns:r="http://schemas.openxmlformats.org/officeDocument/2006/relationships" r:blip="">
          <dgm:adjLst/>
        </dgm:shape>
        <dgm:constrLst>
          <dgm:constr type="l" for="ch" forName="rect1" refType="w" fact="0"/>
          <dgm:constr type="t" for="ch" forName="rect1" refType="h" fact="0"/>
          <dgm:constr type="w" for="ch" forName="rect1" refType="w"/>
          <dgm:constr type="h" for="ch" forName="rect1" refType="h"/>
          <dgm:constr type="l" for="ch" forName="rect2" refType="w" fact="0"/>
          <dgm:constr type="t" for="ch" forName="rect2" refType="h" fact="0.7"/>
          <dgm:constr type="w" for="ch" forName="rect2" refType="w"/>
          <dgm:constr type="h" for="ch" forName="rect2" refType="h" fact="0.24"/>
        </dgm:constrLst>
        <dgm:layoutNode name="rect1" styleLbl="bgShp">
          <dgm:alg type="sp"/>
          <dgm:shape xmlns:r="http://schemas.openxmlformats.org/officeDocument/2006/relationships" type="rect" r:blip="" blipPhldr="1">
            <dgm:adjLst/>
          </dgm:shape>
          <dgm:presOf/>
        </dgm:layoutNode>
        <dgm:layoutNode name="rect2" styleLbl="trBgShp">
          <dgm:varLst>
            <dgm:bulletEnabled val="1"/>
          </dgm:varLst>
          <dgm:alg type="tx">
            <dgm:param type="txAnchorVertCh" val="mid"/>
          </dgm:alg>
          <dgm:shape xmlns:r="http://schemas.openxmlformats.org/officeDocument/2006/relationships" type="rect" r:blip="">
            <dgm:adjLst/>
          </dgm:shape>
          <dgm:presOf axis="desOrSelf"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Date Placeholder 6"/>
          <p:cNvSpPr>
            <a:spLocks noGrp="1"/>
          </p:cNvSpPr>
          <p:nvPr>
            <p:ph type="dt" sz="half" idx="10"/>
          </p:nvPr>
        </p:nvSpPr>
        <p:spPr/>
        <p:txBody>
          <a:bodyPr/>
          <a:lstStyle/>
          <a:p>
            <a:fld id="{1160EA64-D806-43AC-9DF2-F8C432F32B4C}" type="datetimeFigureOut">
              <a:rPr lang="en-US" dirty="0"/>
              <a:t>3/23/2026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a:p>
        </p:txBody>
      </p:sp>
    </p:spTree>
    <p:extLst>
      <p:ext uri="{BB962C8B-B14F-4D97-AF65-F5344CB8AC3E}">
        <p14:creationId xmlns:p14="http://schemas.microsoft.com/office/powerpoint/2010/main" val="223506541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070A7B3-6521-4DCA-87E5-044747A908C1}" type="datetimeFigureOut">
              <a:rPr lang="en-US" dirty="0"/>
              <a:t>3/23/2026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a:p>
        </p:txBody>
      </p:sp>
    </p:spTree>
    <p:extLst>
      <p:ext uri="{BB962C8B-B14F-4D97-AF65-F5344CB8AC3E}">
        <p14:creationId xmlns:p14="http://schemas.microsoft.com/office/powerpoint/2010/main" val="1312252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3/23/2026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a:p>
        </p:txBody>
      </p:sp>
    </p:spTree>
    <p:extLst>
      <p:ext uri="{BB962C8B-B14F-4D97-AF65-F5344CB8AC3E}">
        <p14:creationId xmlns:p14="http://schemas.microsoft.com/office/powerpoint/2010/main" val="233394254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p:cNvSpPr>
            <a:spLocks noGrp="1"/>
          </p:cNvSpPr>
          <p:nvPr>
            <p:ph type="dt" sz="half" idx="10"/>
          </p:nvPr>
        </p:nvSpPr>
        <p:spPr/>
        <p:txBody>
          <a:bodyPr/>
          <a:lstStyle/>
          <a:p>
            <a:fld id="{AB134690-1557-4C89-A502-4959FE7FAD70}" type="datetimeFigureOut">
              <a:rPr lang="en-US" dirty="0"/>
              <a:t>3/23/2026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a:p>
        </p:txBody>
      </p:sp>
    </p:spTree>
    <p:extLst>
      <p:ext uri="{BB962C8B-B14F-4D97-AF65-F5344CB8AC3E}">
        <p14:creationId xmlns:p14="http://schemas.microsoft.com/office/powerpoint/2010/main" val="30201168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3/23/2026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a:p>
        </p:txBody>
      </p:sp>
      <p:sp>
        <p:nvSpPr>
          <p:cNvPr id="10" name="Title 9"/>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343607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1037C31-9E7A-4F99-8774-A0E530DE1A42}" type="datetimeFigureOut">
              <a:rPr lang="en-US" dirty="0"/>
              <a:t>3/23/2026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a:p>
        </p:txBody>
      </p:sp>
    </p:spTree>
    <p:extLst>
      <p:ext uri="{BB962C8B-B14F-4D97-AF65-F5344CB8AC3E}">
        <p14:creationId xmlns:p14="http://schemas.microsoft.com/office/powerpoint/2010/main" val="33933149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3/23/2026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a:p>
        </p:txBody>
      </p:sp>
    </p:spTree>
    <p:extLst>
      <p:ext uri="{BB962C8B-B14F-4D97-AF65-F5344CB8AC3E}">
        <p14:creationId xmlns:p14="http://schemas.microsoft.com/office/powerpoint/2010/main" val="35527162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3/23/2026</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a:p>
        </p:txBody>
      </p:sp>
    </p:spTree>
    <p:extLst>
      <p:ext uri="{BB962C8B-B14F-4D97-AF65-F5344CB8AC3E}">
        <p14:creationId xmlns:p14="http://schemas.microsoft.com/office/powerpoint/2010/main" val="19065171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3/23/2026</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a:p>
        </p:txBody>
      </p:sp>
    </p:spTree>
    <p:extLst>
      <p:ext uri="{BB962C8B-B14F-4D97-AF65-F5344CB8AC3E}">
        <p14:creationId xmlns:p14="http://schemas.microsoft.com/office/powerpoint/2010/main" val="24225222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9F9C37B-1D36-470B-8223-D6C91242EC14}" type="datetimeFigureOut">
              <a:rPr lang="en-US" dirty="0"/>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a:p>
        </p:txBody>
      </p:sp>
    </p:spTree>
    <p:extLst>
      <p:ext uri="{BB962C8B-B14F-4D97-AF65-F5344CB8AC3E}">
        <p14:creationId xmlns:p14="http://schemas.microsoft.com/office/powerpoint/2010/main" val="1448648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7C6F52A-A82B-47A2-A83A-8C4C91F2D59F}" type="datetimeFigureOut">
              <a:rPr lang="en-US" dirty="0"/>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a:p>
        </p:txBody>
      </p:sp>
    </p:spTree>
    <p:extLst>
      <p:ext uri="{BB962C8B-B14F-4D97-AF65-F5344CB8AC3E}">
        <p14:creationId xmlns:p14="http://schemas.microsoft.com/office/powerpoint/2010/main" val="24170269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3/23/2026</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a:p>
        </p:txBody>
      </p:sp>
    </p:spTree>
    <p:extLst>
      <p:ext uri="{BB962C8B-B14F-4D97-AF65-F5344CB8AC3E}">
        <p14:creationId xmlns:p14="http://schemas.microsoft.com/office/powerpoint/2010/main" val="3993068660"/>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Layout" Target="../diagrams/layout2.xml"/><Relationship Id="rId13" Type="http://schemas.openxmlformats.org/officeDocument/2006/relationships/diagramLayout" Target="../diagrams/layout3.xml"/><Relationship Id="rId3" Type="http://schemas.openxmlformats.org/officeDocument/2006/relationships/diagramLayout" Target="../diagrams/layout1.xml"/><Relationship Id="rId7" Type="http://schemas.openxmlformats.org/officeDocument/2006/relationships/diagramData" Target="../diagrams/data2.xml"/><Relationship Id="rId12" Type="http://schemas.openxmlformats.org/officeDocument/2006/relationships/diagramData" Target="../diagrams/data3.xml"/><Relationship Id="rId17" Type="http://schemas.openxmlformats.org/officeDocument/2006/relationships/image" Target="../media/image4.jpeg"/><Relationship Id="rId2" Type="http://schemas.openxmlformats.org/officeDocument/2006/relationships/diagramData" Target="../diagrams/data1.xml"/><Relationship Id="rId16" Type="http://schemas.microsoft.com/office/2007/relationships/diagramDrawing" Target="../diagrams/drawing3.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5" Type="http://schemas.openxmlformats.org/officeDocument/2006/relationships/diagramColors" Target="../diagrams/colors3.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 Id="rId14" Type="http://schemas.openxmlformats.org/officeDocument/2006/relationships/diagramQuickStyle" Target="../diagrams/quickStyl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github.com/AshiSingh15/Bank-Customer-Churn-Prediction"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7D3A4E0-C908-4EA9-ABDF-E82AD6BDEF9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6000" cy="6858000"/>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15DF57-098C-4FCB-B7A8-E497E9B6043E}"/>
              </a:ext>
            </a:extLst>
          </p:cNvPr>
          <p:cNvSpPr>
            <a:spLocks noGrp="1"/>
          </p:cNvSpPr>
          <p:nvPr>
            <p:ph type="ctrTitle"/>
          </p:nvPr>
        </p:nvSpPr>
        <p:spPr>
          <a:xfrm>
            <a:off x="1600200" y="2363323"/>
            <a:ext cx="8991600" cy="1692771"/>
          </a:xfrm>
        </p:spPr>
        <p:txBody>
          <a:bodyPr vert="horz" lIns="182880" tIns="182880" rIns="182880" bIns="182880" rtlCol="0">
            <a:normAutofit/>
          </a:bodyPr>
          <a:lstStyle/>
          <a:p>
            <a:r>
              <a:rPr lang="en-US" sz="4000" b="1" kern="1200" cap="all" spc="200" baseline="0" dirty="0">
                <a:latin typeface="Algerian" panose="04020705040A02060702" pitchFamily="82" charset="0"/>
              </a:rPr>
              <a:t>Bank customer churn prediction</a:t>
            </a:r>
          </a:p>
        </p:txBody>
      </p:sp>
    </p:spTree>
    <p:extLst>
      <p:ext uri="{BB962C8B-B14F-4D97-AF65-F5344CB8AC3E}">
        <p14:creationId xmlns:p14="http://schemas.microsoft.com/office/powerpoint/2010/main" val="9805432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4E866FF9-A729-45F0-A163-10E89E871602}"/>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738255" cy="6858000"/>
          </a:xfrm>
          <a:prstGeom prst="rect">
            <a:avLst/>
          </a:prstGeom>
          <a:solidFill>
            <a:srgbClr val="4A53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3C86B1-7C33-4A37-A176-9016ACFEE5C4}"/>
              </a:ext>
            </a:extLst>
          </p:cNvPr>
          <p:cNvSpPr>
            <a:spLocks noGrp="1"/>
          </p:cNvSpPr>
          <p:nvPr>
            <p:ph type="title"/>
          </p:nvPr>
        </p:nvSpPr>
        <p:spPr>
          <a:xfrm>
            <a:off x="640080" y="2681105"/>
            <a:ext cx="3401568" cy="1495794"/>
          </a:xfrm>
          <a:solidFill>
            <a:srgbClr val="FFFFFF"/>
          </a:solidFill>
          <a:ln>
            <a:solidFill>
              <a:srgbClr val="262626"/>
            </a:solidFill>
          </a:ln>
        </p:spPr>
        <p:txBody>
          <a:bodyPr/>
          <a:lstStyle/>
          <a:p>
            <a:r>
              <a:rPr lang="en-IN"/>
              <a:t>The Team</a:t>
            </a:r>
          </a:p>
        </p:txBody>
      </p:sp>
      <p:sp useBgFill="1">
        <p:nvSpPr>
          <p:cNvPr id="21" name="Rectangle 20">
            <a:extLst>
              <a:ext uri="{FF2B5EF4-FFF2-40B4-BE49-F238E27FC236}">
                <a16:creationId xmlns:a16="http://schemas.microsoft.com/office/drawing/2014/main" id="{A804366F-2366-4688-98E7-B101C7BC614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3278" y="0"/>
            <a:ext cx="7438722"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E2F6407E-AAD2-A4D5-4610-A42FBD9CB175}"/>
              </a:ext>
            </a:extLst>
          </p:cNvPr>
          <p:cNvGraphicFramePr>
            <a:graphicFrameLocks noGrp="1"/>
          </p:cNvGraphicFramePr>
          <p:nvPr>
            <p:ph idx="1"/>
            <p:extLst>
              <p:ext uri="{D42A27DB-BD31-4B8C-83A1-F6EECF244321}">
                <p14:modId xmlns:p14="http://schemas.microsoft.com/office/powerpoint/2010/main" val="325097247"/>
              </p:ext>
            </p:extLst>
          </p:nvPr>
        </p:nvGraphicFramePr>
        <p:xfrm>
          <a:off x="5397501" y="639763"/>
          <a:ext cx="6282310" cy="25675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Diagram 2">
            <a:extLst>
              <a:ext uri="{FF2B5EF4-FFF2-40B4-BE49-F238E27FC236}">
                <a16:creationId xmlns:a16="http://schemas.microsoft.com/office/drawing/2014/main" id="{B8CED378-0A86-9823-1D3F-9B4061B1FE95}"/>
              </a:ext>
            </a:extLst>
          </p:cNvPr>
          <p:cNvGraphicFramePr/>
          <p:nvPr>
            <p:extLst>
              <p:ext uri="{D42A27DB-BD31-4B8C-83A1-F6EECF244321}">
                <p14:modId xmlns:p14="http://schemas.microsoft.com/office/powerpoint/2010/main" val="338296749"/>
              </p:ext>
            </p:extLst>
          </p:nvPr>
        </p:nvGraphicFramePr>
        <p:xfrm>
          <a:off x="9517095" y="2802245"/>
          <a:ext cx="2372812" cy="173414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pSp>
        <p:nvGrpSpPr>
          <p:cNvPr id="4" name="Group 3">
            <a:extLst>
              <a:ext uri="{FF2B5EF4-FFF2-40B4-BE49-F238E27FC236}">
                <a16:creationId xmlns:a16="http://schemas.microsoft.com/office/drawing/2014/main" id="{7BCE0D83-DF72-32F8-B5DD-EE783615D5F8}"/>
              </a:ext>
            </a:extLst>
          </p:cNvPr>
          <p:cNvGrpSpPr/>
          <p:nvPr/>
        </p:nvGrpSpPr>
        <p:grpSpPr>
          <a:xfrm>
            <a:off x="5187405" y="2416875"/>
            <a:ext cx="2261631" cy="1252444"/>
            <a:chOff x="0" y="1315097"/>
            <a:chExt cx="2261631" cy="1252444"/>
          </a:xfrm>
          <a:solidFill>
            <a:srgbClr val="9CA383"/>
          </a:solidFill>
        </p:grpSpPr>
        <p:sp>
          <p:nvSpPr>
            <p:cNvPr id="6" name="Rectangle: Rounded Corners 5">
              <a:extLst>
                <a:ext uri="{FF2B5EF4-FFF2-40B4-BE49-F238E27FC236}">
                  <a16:creationId xmlns:a16="http://schemas.microsoft.com/office/drawing/2014/main" id="{3BD57785-5D15-79E9-3ECF-86C512858270}"/>
                </a:ext>
              </a:extLst>
            </p:cNvPr>
            <p:cNvSpPr/>
            <p:nvPr/>
          </p:nvSpPr>
          <p:spPr>
            <a:xfrm>
              <a:off x="0" y="1315097"/>
              <a:ext cx="2261631" cy="1252444"/>
            </a:xfrm>
            <a:prstGeom prst="roundRect">
              <a:avLst/>
            </a:prstGeom>
            <a:grpFill/>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n-IN"/>
            </a:p>
          </p:txBody>
        </p:sp>
        <p:sp>
          <p:nvSpPr>
            <p:cNvPr id="7" name="Rectangle: Rounded Corners 4">
              <a:extLst>
                <a:ext uri="{FF2B5EF4-FFF2-40B4-BE49-F238E27FC236}">
                  <a16:creationId xmlns:a16="http://schemas.microsoft.com/office/drawing/2014/main" id="{6E193F18-9816-2134-C79C-11FDD5C0D8D5}"/>
                </a:ext>
              </a:extLst>
            </p:cNvPr>
            <p:cNvSpPr txBox="1"/>
            <p:nvPr/>
          </p:nvSpPr>
          <p:spPr>
            <a:xfrm>
              <a:off x="61139" y="1376236"/>
              <a:ext cx="2139353" cy="1130166"/>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40970" tIns="70485" rIns="140970" bIns="70485" numCol="1" spcCol="1270" anchor="ctr" anchorCtr="0">
              <a:noAutofit/>
            </a:bodyPr>
            <a:lstStyle/>
            <a:p>
              <a:pPr marL="0" lvl="0" indent="0" algn="ctr" defTabSz="1644650">
                <a:lnSpc>
                  <a:spcPct val="90000"/>
                </a:lnSpc>
                <a:spcBef>
                  <a:spcPct val="0"/>
                </a:spcBef>
                <a:spcAft>
                  <a:spcPct val="35000"/>
                </a:spcAft>
                <a:buNone/>
              </a:pPr>
              <a:r>
                <a:rPr lang="en-IN" sz="3600" kern="1200" dirty="0"/>
                <a:t>Student Name</a:t>
              </a:r>
              <a:endParaRPr lang="en-US" sz="3600" kern="1200" dirty="0"/>
            </a:p>
          </p:txBody>
        </p:sp>
      </p:grpSp>
      <p:graphicFrame>
        <p:nvGraphicFramePr>
          <p:cNvPr id="30" name="Diagram 29">
            <a:extLst>
              <a:ext uri="{FF2B5EF4-FFF2-40B4-BE49-F238E27FC236}">
                <a16:creationId xmlns:a16="http://schemas.microsoft.com/office/drawing/2014/main" id="{064916C5-F9EC-7006-0A96-A1BB04AC3207}"/>
              </a:ext>
            </a:extLst>
          </p:cNvPr>
          <p:cNvGraphicFramePr/>
          <p:nvPr>
            <p:extLst>
              <p:ext uri="{D42A27DB-BD31-4B8C-83A1-F6EECF244321}">
                <p14:modId xmlns:p14="http://schemas.microsoft.com/office/powerpoint/2010/main" val="64728462"/>
              </p:ext>
            </p:extLst>
          </p:nvPr>
        </p:nvGraphicFramePr>
        <p:xfrm>
          <a:off x="7123208" y="925975"/>
          <a:ext cx="5288589" cy="3719206"/>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pic>
        <p:nvPicPr>
          <p:cNvPr id="11" name="Picture 10">
            <a:extLst>
              <a:ext uri="{FF2B5EF4-FFF2-40B4-BE49-F238E27FC236}">
                <a16:creationId xmlns:a16="http://schemas.microsoft.com/office/drawing/2014/main" id="{41CB126F-1376-9C83-CAF7-C8A2341CB7D1}"/>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9842923" y="2785578"/>
            <a:ext cx="2046984" cy="1750815"/>
          </a:xfrm>
          <a:prstGeom prst="rect">
            <a:avLst/>
          </a:prstGeom>
        </p:spPr>
      </p:pic>
      <p:sp>
        <p:nvSpPr>
          <p:cNvPr id="13" name="TextBox 12">
            <a:extLst>
              <a:ext uri="{FF2B5EF4-FFF2-40B4-BE49-F238E27FC236}">
                <a16:creationId xmlns:a16="http://schemas.microsoft.com/office/drawing/2014/main" id="{FE02F82A-632C-9DA9-CCA8-0C42EDB24767}"/>
              </a:ext>
            </a:extLst>
          </p:cNvPr>
          <p:cNvSpPr txBox="1"/>
          <p:nvPr/>
        </p:nvSpPr>
        <p:spPr>
          <a:xfrm>
            <a:off x="9857946" y="4053244"/>
            <a:ext cx="2046984" cy="707886"/>
          </a:xfrm>
          <a:prstGeom prst="rect">
            <a:avLst/>
          </a:prstGeom>
          <a:noFill/>
        </p:spPr>
        <p:txBody>
          <a:bodyPr wrap="square" rtlCol="0">
            <a:spAutoFit/>
          </a:bodyPr>
          <a:lstStyle/>
          <a:p>
            <a:r>
              <a:rPr lang="en-IN" dirty="0"/>
              <a:t>       </a:t>
            </a:r>
            <a:r>
              <a:rPr lang="en-IN" sz="2200" dirty="0">
                <a:solidFill>
                  <a:srgbClr val="FFFFFF">
                    <a:hueOff val="0"/>
                    <a:satOff val="0"/>
                    <a:lumOff val="0"/>
                    <a:alphaOff val="0"/>
                  </a:srgbClr>
                </a:solidFill>
                <a:latin typeface="Gill Sans MT" panose="020B0502020104020203"/>
              </a:rPr>
              <a:t> Khushi </a:t>
            </a:r>
          </a:p>
          <a:p>
            <a:endParaRPr lang="en-IN" dirty="0"/>
          </a:p>
        </p:txBody>
      </p:sp>
    </p:spTree>
    <p:extLst>
      <p:ext uri="{BB962C8B-B14F-4D97-AF65-F5344CB8AC3E}">
        <p14:creationId xmlns:p14="http://schemas.microsoft.com/office/powerpoint/2010/main" val="28833501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2AEFFFF2-9EB4-4B6C-B9F8-2BA3EF89A21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rgbClr val="4A53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9">
            <a:extLst>
              <a:ext uri="{FF2B5EF4-FFF2-40B4-BE49-F238E27FC236}">
                <a16:creationId xmlns:a16="http://schemas.microsoft.com/office/drawing/2014/main" id="{0D65299F-028F-4AFC-B46A-8DB33E20FE4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BAC87F6E-526A-49B5-995D-42DB656594C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3C86B1-7C33-4A37-A176-9016ACFEE5C4}"/>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US" b="1" dirty="0">
                <a:latin typeface="Algerian" panose="04020705040A02060702" pitchFamily="82" charset="0"/>
              </a:rPr>
              <a:t>Workload </a:t>
            </a:r>
            <a:r>
              <a:rPr lang="en-IN" b="1" dirty="0">
                <a:latin typeface="Algerian" panose="04020705040A02060702" pitchFamily="82" charset="0"/>
              </a:rPr>
              <a:t>Division</a:t>
            </a:r>
          </a:p>
        </p:txBody>
      </p:sp>
      <p:sp>
        <p:nvSpPr>
          <p:cNvPr id="3" name="Content Placeholder 2">
            <a:extLst>
              <a:ext uri="{FF2B5EF4-FFF2-40B4-BE49-F238E27FC236}">
                <a16:creationId xmlns:a16="http://schemas.microsoft.com/office/drawing/2014/main" id="{DEFFB6BC-B8A2-4F6A-861D-C36B251B727B}"/>
              </a:ext>
            </a:extLst>
          </p:cNvPr>
          <p:cNvSpPr>
            <a:spLocks noGrp="1"/>
          </p:cNvSpPr>
          <p:nvPr>
            <p:ph idx="1"/>
          </p:nvPr>
        </p:nvSpPr>
        <p:spPr>
          <a:xfrm>
            <a:off x="5591695" y="1402080"/>
            <a:ext cx="5320696" cy="4053840"/>
          </a:xfrm>
        </p:spPr>
        <p:txBody>
          <a:bodyPr anchor="ctr"/>
          <a:lstStyle/>
          <a:p>
            <a:r>
              <a:rPr lang="en-IN" sz="2000" b="1" dirty="0"/>
              <a:t>Contribution of each team member in project</a:t>
            </a:r>
          </a:p>
          <a:p>
            <a:pPr lvl="1"/>
            <a:r>
              <a:rPr lang="en-IN" sz="2000" b="1" dirty="0"/>
              <a:t>Bhoomi</a:t>
            </a:r>
            <a:r>
              <a:rPr lang="en-IN" sz="1800" b="1" dirty="0"/>
              <a:t>:-  </a:t>
            </a:r>
            <a:r>
              <a:rPr lang="en-IN" dirty="0"/>
              <a:t>Machine Learning </a:t>
            </a:r>
            <a:r>
              <a:rPr lang="en-IN" dirty="0" smtClean="0"/>
              <a:t>Support, Web Development</a:t>
            </a:r>
            <a:r>
              <a:rPr lang="en-IN" dirty="0" smtClean="0"/>
              <a:t>, </a:t>
            </a:r>
            <a:r>
              <a:rPr lang="en-IN" dirty="0"/>
              <a:t>Data Visualization, Video </a:t>
            </a:r>
            <a:r>
              <a:rPr lang="en-IN" dirty="0" smtClean="0"/>
              <a:t>Demonstration</a:t>
            </a:r>
            <a:endParaRPr lang="en-IN" sz="1800" dirty="0"/>
          </a:p>
          <a:p>
            <a:pPr lvl="1"/>
            <a:r>
              <a:rPr lang="en-IN" sz="2000" b="1" dirty="0"/>
              <a:t>Kashish Gautam:-  </a:t>
            </a:r>
            <a:r>
              <a:rPr lang="en-IN" dirty="0"/>
              <a:t>Data Handling, </a:t>
            </a:r>
            <a:r>
              <a:rPr lang="en-IN" dirty="0" smtClean="0"/>
              <a:t>Reprocessing, </a:t>
            </a:r>
            <a:r>
              <a:rPr lang="en-IN" dirty="0"/>
              <a:t>Documentation, Presentation</a:t>
            </a:r>
            <a:endParaRPr lang="en-IN" dirty="0" smtClean="0"/>
          </a:p>
          <a:p>
            <a:r>
              <a:rPr lang="en-IN" sz="2000" b="1" dirty="0" smtClean="0"/>
              <a:t>  Ashi</a:t>
            </a:r>
            <a:r>
              <a:rPr lang="en-IN" sz="2000" b="1" dirty="0"/>
              <a:t>:-  </a:t>
            </a:r>
            <a:r>
              <a:rPr lang="en-IN" dirty="0" smtClean="0"/>
              <a:t>Core development, web application, ML Integration, Visualization.</a:t>
            </a:r>
            <a:endParaRPr lang="en-IN" sz="1400" dirty="0"/>
          </a:p>
          <a:p>
            <a:r>
              <a:rPr lang="en-IN" sz="2000" b="1" dirty="0" smtClean="0"/>
              <a:t>Khushi</a:t>
            </a:r>
            <a:r>
              <a:rPr lang="en-IN" sz="2000" b="1" dirty="0"/>
              <a:t>:- </a:t>
            </a:r>
            <a:r>
              <a:rPr lang="en-IN" dirty="0"/>
              <a:t>Documentation and Reporting</a:t>
            </a:r>
            <a:endParaRPr lang="en-IN" sz="1400" dirty="0"/>
          </a:p>
        </p:txBody>
      </p:sp>
    </p:spTree>
    <p:extLst>
      <p:ext uri="{BB962C8B-B14F-4D97-AF65-F5344CB8AC3E}">
        <p14:creationId xmlns:p14="http://schemas.microsoft.com/office/powerpoint/2010/main" val="2277255098"/>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2AEFFFF2-9EB4-4B6C-B9F8-2BA3EF89A21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7" name="Rectangle 26">
            <a:extLst>
              <a:ext uri="{FF2B5EF4-FFF2-40B4-BE49-F238E27FC236}">
                <a16:creationId xmlns:a16="http://schemas.microsoft.com/office/drawing/2014/main" id="{0D65299F-028F-4AFC-B46A-8DB33E20FE4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BAC87F6E-526A-49B5-995D-42DB656594C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3C86B1-7C33-4A37-A176-9016ACFEE5C4}"/>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IN" sz="2400" b="1" dirty="0">
                <a:latin typeface="Algerian" panose="04020705040A02060702" pitchFamily="82" charset="0"/>
              </a:rPr>
              <a:t>The Background</a:t>
            </a:r>
          </a:p>
        </p:txBody>
      </p:sp>
      <p:sp>
        <p:nvSpPr>
          <p:cNvPr id="3" name="Content Placeholder 2">
            <a:extLst>
              <a:ext uri="{FF2B5EF4-FFF2-40B4-BE49-F238E27FC236}">
                <a16:creationId xmlns:a16="http://schemas.microsoft.com/office/drawing/2014/main" id="{DEFFB6BC-B8A2-4F6A-861D-C36B251B727B}"/>
              </a:ext>
            </a:extLst>
          </p:cNvPr>
          <p:cNvSpPr>
            <a:spLocks noGrp="1"/>
          </p:cNvSpPr>
          <p:nvPr>
            <p:ph idx="1"/>
          </p:nvPr>
        </p:nvSpPr>
        <p:spPr>
          <a:xfrm>
            <a:off x="5591695" y="1161535"/>
            <a:ext cx="5320696" cy="4253430"/>
          </a:xfrm>
        </p:spPr>
        <p:txBody>
          <a:bodyPr anchor="ctr">
            <a:normAutofit/>
          </a:bodyPr>
          <a:lstStyle/>
          <a:p>
            <a:pPr marL="0" indent="0">
              <a:buNone/>
            </a:pPr>
            <a:r>
              <a:rPr lang="en-US" sz="2000" dirty="0"/>
              <a:t>Customer churn is a major challenge in the banking </a:t>
            </a:r>
            <a:r>
              <a:rPr lang="en-US" sz="2000" dirty="0" smtClean="0"/>
              <a:t>industry</a:t>
            </a:r>
            <a:r>
              <a:rPr lang="en-US" sz="2000" dirty="0"/>
              <a:t> </a:t>
            </a:r>
            <a:r>
              <a:rPr lang="en-US" sz="2000" dirty="0" smtClean="0"/>
              <a:t>and sector.Losing customers leads to significant revenue loss. Traditional systems are reactive and not predicative Backs lack tools to identify  at risk customers early. Banks often fail to identify customers who are at risk of leaving before is to late. Therefore there is a strong need for an intelligent AI-driven system that can predict customer churn in a advance and help organizations take preventive actions.</a:t>
            </a:r>
            <a:endParaRPr lang="en-IN" sz="2000" dirty="0"/>
          </a:p>
        </p:txBody>
      </p:sp>
    </p:spTree>
    <p:extLst>
      <p:ext uri="{BB962C8B-B14F-4D97-AF65-F5344CB8AC3E}">
        <p14:creationId xmlns:p14="http://schemas.microsoft.com/office/powerpoint/2010/main" val="37847115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EFFFF2-9EB4-4B6C-B9F8-2BA3EF89A21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D65299F-028F-4AFC-B46A-8DB33E20FE4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AC87F6E-526A-49B5-995D-42DB656594C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B347B7-4FBF-466B-B290-31F20EBCD3F1}"/>
              </a:ext>
            </a:extLst>
          </p:cNvPr>
          <p:cNvSpPr>
            <a:spLocks noGrp="1"/>
          </p:cNvSpPr>
          <p:nvPr>
            <p:ph type="title"/>
          </p:nvPr>
        </p:nvSpPr>
        <p:spPr>
          <a:xfrm>
            <a:off x="1232995" y="1586484"/>
            <a:ext cx="3685032" cy="3685032"/>
          </a:xfrm>
          <a:prstGeom prst="ellipse">
            <a:avLst/>
          </a:prstGeom>
          <a:solidFill>
            <a:schemeClr val="accent2">
              <a:lumMod val="75000"/>
            </a:schemeClr>
          </a:solidFill>
          <a:ln>
            <a:noFill/>
          </a:ln>
        </p:spPr>
        <p:txBody>
          <a:bodyPr>
            <a:normAutofit/>
          </a:bodyPr>
          <a:lstStyle/>
          <a:p>
            <a:r>
              <a:rPr lang="en-IN" b="1" dirty="0">
                <a:latin typeface="Algerian" panose="04020705040A02060702" pitchFamily="82" charset="0"/>
              </a:rPr>
              <a:t>Proposed Solution</a:t>
            </a:r>
          </a:p>
        </p:txBody>
      </p:sp>
      <p:sp>
        <p:nvSpPr>
          <p:cNvPr id="3" name="Content Placeholder 2">
            <a:extLst>
              <a:ext uri="{FF2B5EF4-FFF2-40B4-BE49-F238E27FC236}">
                <a16:creationId xmlns:a16="http://schemas.microsoft.com/office/drawing/2014/main" id="{C46ED790-B911-4363-9E4B-39B6B5FCE59E}"/>
              </a:ext>
            </a:extLst>
          </p:cNvPr>
          <p:cNvSpPr>
            <a:spLocks noGrp="1"/>
          </p:cNvSpPr>
          <p:nvPr>
            <p:ph idx="1"/>
          </p:nvPr>
        </p:nvSpPr>
        <p:spPr>
          <a:xfrm>
            <a:off x="5591695" y="474562"/>
            <a:ext cx="6075586" cy="4981358"/>
          </a:xfrm>
        </p:spPr>
        <p:txBody>
          <a:bodyPr anchor="ctr">
            <a:normAutofit/>
          </a:bodyPr>
          <a:lstStyle/>
          <a:p>
            <a:r>
              <a:rPr lang="en-US" sz="2000" dirty="0"/>
              <a:t>The proposed solution is to develop a machine learning–based predictive model to identify customers who are likely to churn. </a:t>
            </a:r>
            <a:endParaRPr lang="en-US" sz="2000" dirty="0" smtClean="0"/>
          </a:p>
          <a:p>
            <a:r>
              <a:rPr lang="en-US" sz="2000" dirty="0" smtClean="0"/>
              <a:t>The </a:t>
            </a:r>
            <a:r>
              <a:rPr lang="en-US" sz="2000" dirty="0"/>
              <a:t>model is trained on historical banking data, including customer demographics and account-related information. </a:t>
            </a:r>
            <a:endParaRPr lang="en-US" sz="2000" dirty="0" smtClean="0"/>
          </a:p>
          <a:p>
            <a:r>
              <a:rPr lang="en-US" sz="2000" dirty="0" smtClean="0"/>
              <a:t>An AI –powered web application for churn prediction. Uses machine learning to analyze customer data. Predicts whether a customer will leave or stay</a:t>
            </a:r>
          </a:p>
          <a:p>
            <a:r>
              <a:rPr lang="en-US" sz="2000" dirty="0" smtClean="0"/>
              <a:t>Provides churn probability and risk level. Suggests retention strategies for decision making.</a:t>
            </a:r>
            <a:endParaRPr lang="en-IN" sz="2000" dirty="0"/>
          </a:p>
        </p:txBody>
      </p:sp>
    </p:spTree>
    <p:extLst>
      <p:ext uri="{BB962C8B-B14F-4D97-AF65-F5344CB8AC3E}">
        <p14:creationId xmlns:p14="http://schemas.microsoft.com/office/powerpoint/2010/main" val="17411871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EFFFF2-9EB4-4B6C-B9F8-2BA3EF89A21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D65299F-028F-4AFC-B46A-8DB33E20FE4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AC87F6E-526A-49B5-995D-42DB656594C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7D89FB-6AE0-4387-B7C5-B6BE39BA7579}"/>
              </a:ext>
            </a:extLst>
          </p:cNvPr>
          <p:cNvSpPr>
            <a:spLocks noGrp="1"/>
          </p:cNvSpPr>
          <p:nvPr>
            <p:ph type="title"/>
          </p:nvPr>
        </p:nvSpPr>
        <p:spPr>
          <a:xfrm>
            <a:off x="1299383" y="1521292"/>
            <a:ext cx="3685032" cy="3893673"/>
          </a:xfrm>
          <a:prstGeom prst="ellipse">
            <a:avLst/>
          </a:prstGeom>
          <a:solidFill>
            <a:schemeClr val="accent2">
              <a:lumMod val="75000"/>
            </a:schemeClr>
          </a:solidFill>
          <a:ln>
            <a:noFill/>
          </a:ln>
        </p:spPr>
        <p:txBody>
          <a:bodyPr>
            <a:normAutofit/>
          </a:bodyPr>
          <a:lstStyle/>
          <a:p>
            <a:r>
              <a:rPr lang="en-IN" b="1" dirty="0">
                <a:latin typeface="Algerian" panose="04020705040A02060702" pitchFamily="82" charset="0"/>
              </a:rPr>
              <a:t>Solution Design</a:t>
            </a:r>
          </a:p>
        </p:txBody>
      </p:sp>
      <p:sp>
        <p:nvSpPr>
          <p:cNvPr id="5" name="Rectangle 2">
            <a:extLst>
              <a:ext uri="{FF2B5EF4-FFF2-40B4-BE49-F238E27FC236}">
                <a16:creationId xmlns:a16="http://schemas.microsoft.com/office/drawing/2014/main" id="{AF68EB92-0579-7D2F-304F-7C058D1109B4}"/>
              </a:ext>
            </a:extLst>
          </p:cNvPr>
          <p:cNvSpPr>
            <a:spLocks noGrp="1" noChangeArrowheads="1"/>
          </p:cNvSpPr>
          <p:nvPr>
            <p:ph idx="1"/>
          </p:nvPr>
        </p:nvSpPr>
        <p:spPr bwMode="auto">
          <a:xfrm>
            <a:off x="5232806" y="394844"/>
            <a:ext cx="6307153" cy="6068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2000" b="1" dirty="0" smtClean="0"/>
              <a:t>System Architecture:</a:t>
            </a:r>
          </a:p>
          <a:p>
            <a:r>
              <a:rPr lang="en-US" sz="2000" dirty="0" smtClean="0"/>
              <a:t>Frontend: Streamlit (Interactive UI)</a:t>
            </a:r>
          </a:p>
          <a:p>
            <a:r>
              <a:rPr lang="en-US" sz="2000" dirty="0" smtClean="0"/>
              <a:t>Backend: Python</a:t>
            </a:r>
          </a:p>
          <a:p>
            <a:r>
              <a:rPr lang="en-US" sz="2000" dirty="0" smtClean="0"/>
              <a:t>Machine Learning Model: Scikit-learn</a:t>
            </a:r>
          </a:p>
          <a:p>
            <a:r>
              <a:rPr lang="en-US" sz="2000" dirty="0" smtClean="0"/>
              <a:t>Data Processing: Pandas &amp; Numpy</a:t>
            </a:r>
          </a:p>
          <a:p>
            <a:r>
              <a:rPr lang="en-US" sz="2000" dirty="0" smtClean="0"/>
              <a:t>Visualization: Plotly</a:t>
            </a:r>
          </a:p>
          <a:p>
            <a:pPr marL="0" indent="0">
              <a:buNone/>
            </a:pPr>
            <a:r>
              <a:rPr lang="en-US" sz="2000" b="1" dirty="0" smtClean="0"/>
              <a:t>Working Flow:</a:t>
            </a:r>
          </a:p>
          <a:p>
            <a:pPr marL="0" indent="0">
              <a:buNone/>
            </a:pPr>
            <a:r>
              <a:rPr lang="en-US" sz="2000" b="1" dirty="0" smtClean="0"/>
              <a:t>1.</a:t>
            </a:r>
            <a:r>
              <a:rPr lang="en-US" sz="2000" dirty="0" smtClean="0"/>
              <a:t>User Login</a:t>
            </a:r>
          </a:p>
          <a:p>
            <a:pPr marL="0" indent="0">
              <a:buNone/>
            </a:pPr>
            <a:r>
              <a:rPr lang="en-US" sz="2000" b="1" dirty="0" smtClean="0"/>
              <a:t>2.</a:t>
            </a:r>
            <a:r>
              <a:rPr lang="en-US" sz="2000" dirty="0" smtClean="0"/>
              <a:t>Input Customer Data/ upload CSV</a:t>
            </a:r>
          </a:p>
          <a:p>
            <a:pPr marL="0" indent="0">
              <a:buNone/>
            </a:pPr>
            <a:r>
              <a:rPr lang="en-US" sz="2000" b="1" dirty="0" smtClean="0"/>
              <a:t>3</a:t>
            </a:r>
            <a:r>
              <a:rPr lang="en-US" sz="2000" dirty="0" smtClean="0"/>
              <a:t>.Data Preprocessing (Encoding + Scaling)</a:t>
            </a:r>
          </a:p>
          <a:p>
            <a:pPr marL="0" indent="0">
              <a:buNone/>
            </a:pPr>
            <a:r>
              <a:rPr lang="en-US" sz="2000" b="1" dirty="0" smtClean="0"/>
              <a:t>4</a:t>
            </a:r>
            <a:r>
              <a:rPr lang="en-US" sz="2000" dirty="0" smtClean="0"/>
              <a:t>. Model Prediction</a:t>
            </a:r>
          </a:p>
          <a:p>
            <a:pPr marL="0" indent="0">
              <a:buNone/>
            </a:pPr>
            <a:r>
              <a:rPr lang="en-US" sz="2000" b="1" dirty="0" smtClean="0"/>
              <a:t>5</a:t>
            </a:r>
            <a:r>
              <a:rPr lang="en-US" sz="2000" dirty="0" smtClean="0"/>
              <a:t>. Dashboard Output (Risk + Insights)</a:t>
            </a:r>
          </a:p>
          <a:p>
            <a:endParaRPr lang="en-US" sz="2000" dirty="0" smtClean="0"/>
          </a:p>
          <a:p>
            <a:endParaRPr lang="en-US" sz="2000" dirty="0"/>
          </a:p>
        </p:txBody>
      </p:sp>
    </p:spTree>
    <p:extLst>
      <p:ext uri="{BB962C8B-B14F-4D97-AF65-F5344CB8AC3E}">
        <p14:creationId xmlns:p14="http://schemas.microsoft.com/office/powerpoint/2010/main" val="3081956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EFFFF2-9EB4-4B6C-B9F8-2BA3EF89A21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D65299F-028F-4AFC-B46A-8DB33E20FE4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AC87F6E-526A-49B5-995D-42DB656594C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2218D5-F128-490E-8152-7D32E2A4AAF2}"/>
              </a:ext>
            </a:extLst>
          </p:cNvPr>
          <p:cNvSpPr>
            <a:spLocks noGrp="1"/>
          </p:cNvSpPr>
          <p:nvPr>
            <p:ph type="title"/>
          </p:nvPr>
        </p:nvSpPr>
        <p:spPr>
          <a:xfrm>
            <a:off x="1275886" y="1583589"/>
            <a:ext cx="3685032" cy="3685032"/>
          </a:xfrm>
          <a:prstGeom prst="ellipse">
            <a:avLst/>
          </a:prstGeom>
          <a:solidFill>
            <a:schemeClr val="accent2">
              <a:lumMod val="75000"/>
            </a:schemeClr>
          </a:solidFill>
          <a:ln>
            <a:noFill/>
          </a:ln>
        </p:spPr>
        <p:txBody>
          <a:bodyPr>
            <a:normAutofit/>
          </a:bodyPr>
          <a:lstStyle/>
          <a:p>
            <a:r>
              <a:rPr lang="en-IN" sz="2400" b="1" dirty="0">
                <a:latin typeface="Algerian" panose="04020705040A02060702" pitchFamily="82" charset="0"/>
              </a:rPr>
              <a:t>Technology </a:t>
            </a:r>
            <a:br>
              <a:rPr lang="en-IN" sz="2400" b="1" dirty="0">
                <a:latin typeface="Algerian" panose="04020705040A02060702" pitchFamily="82" charset="0"/>
              </a:rPr>
            </a:br>
            <a:r>
              <a:rPr lang="en-IN" sz="2400" b="1" dirty="0">
                <a:latin typeface="Algerian" panose="04020705040A02060702" pitchFamily="82" charset="0"/>
              </a:rPr>
              <a:t>Stack &amp; Requirements</a:t>
            </a:r>
            <a:endParaRPr lang="en-US" sz="2400" b="1" dirty="0">
              <a:latin typeface="Algerian" panose="04020705040A02060702" pitchFamily="82" charset="0"/>
            </a:endParaRPr>
          </a:p>
        </p:txBody>
      </p:sp>
      <p:sp>
        <p:nvSpPr>
          <p:cNvPr id="3" name="Content Placeholder 2">
            <a:extLst>
              <a:ext uri="{FF2B5EF4-FFF2-40B4-BE49-F238E27FC236}">
                <a16:creationId xmlns:a16="http://schemas.microsoft.com/office/drawing/2014/main" id="{D937833B-3907-4B83-9F77-D0F494B71546}"/>
              </a:ext>
            </a:extLst>
          </p:cNvPr>
          <p:cNvSpPr>
            <a:spLocks noGrp="1"/>
          </p:cNvSpPr>
          <p:nvPr>
            <p:ph idx="1"/>
          </p:nvPr>
        </p:nvSpPr>
        <p:spPr>
          <a:xfrm>
            <a:off x="5591694" y="312516"/>
            <a:ext cx="6503849" cy="6053115"/>
          </a:xfrm>
        </p:spPr>
        <p:txBody>
          <a:bodyPr anchor="ctr">
            <a:normAutofit lnSpcReduction="10000"/>
          </a:bodyPr>
          <a:lstStyle/>
          <a:p>
            <a:pPr>
              <a:buFont typeface="Wingdings" panose="05000000000000000000" pitchFamily="2" charset="2"/>
              <a:buChar char="q"/>
            </a:pPr>
            <a:r>
              <a:rPr lang="en-IN" sz="2400" b="1" dirty="0">
                <a:latin typeface="Abadi" panose="020B0604020104020204" pitchFamily="34" charset="0"/>
              </a:rPr>
              <a:t> Technology Stack:</a:t>
            </a:r>
          </a:p>
          <a:p>
            <a:r>
              <a:rPr lang="en-IN" dirty="0"/>
              <a:t>Python</a:t>
            </a:r>
          </a:p>
          <a:p>
            <a:r>
              <a:rPr lang="en-IN" dirty="0"/>
              <a:t>Pandas, NumPy</a:t>
            </a:r>
          </a:p>
          <a:p>
            <a:r>
              <a:rPr lang="en-IN" dirty="0"/>
              <a:t>Scikit-learn (Random Forest, StandardScaler)</a:t>
            </a:r>
          </a:p>
          <a:p>
            <a:r>
              <a:rPr lang="en-IN" dirty="0"/>
              <a:t>Matplotlib, Seaborn, Plotly</a:t>
            </a:r>
          </a:p>
          <a:p>
            <a:r>
              <a:rPr lang="en-IN" dirty="0"/>
              <a:t>Streamlit</a:t>
            </a:r>
          </a:p>
          <a:p>
            <a:r>
              <a:rPr lang="en-IN" dirty="0"/>
              <a:t>Pickle (model storage)</a:t>
            </a:r>
          </a:p>
          <a:p>
            <a:r>
              <a:rPr lang="en-IN" dirty="0"/>
              <a:t>JSON (user authentication)</a:t>
            </a:r>
          </a:p>
          <a:p>
            <a:r>
              <a:rPr lang="en-IN" dirty="0"/>
              <a:t>OS module (file handling)</a:t>
            </a:r>
          </a:p>
          <a:p>
            <a:pPr>
              <a:buFont typeface="Wingdings" panose="05000000000000000000" pitchFamily="2" charset="2"/>
              <a:buChar char="q"/>
            </a:pPr>
            <a:r>
              <a:rPr lang="en-US" sz="2400" b="1" dirty="0">
                <a:latin typeface="Abadi" panose="020B0604020104020204" pitchFamily="34" charset="0"/>
              </a:rPr>
              <a:t> Requirements:</a:t>
            </a:r>
          </a:p>
          <a:p>
            <a:r>
              <a:rPr lang="en-IN" dirty="0"/>
              <a:t>Python 3.x environment with required libraries installed</a:t>
            </a:r>
          </a:p>
          <a:p>
            <a:r>
              <a:rPr lang="en-IN" dirty="0"/>
              <a:t>Bank customer dataset (Churn_Modelling.csv)</a:t>
            </a:r>
          </a:p>
          <a:p>
            <a:r>
              <a:rPr lang="en-IN" dirty="0"/>
              <a:t>Trained model files (</a:t>
            </a:r>
            <a:r>
              <a:rPr lang="en-IN" dirty="0" err="1"/>
              <a:t>model.pkl</a:t>
            </a:r>
            <a:r>
              <a:rPr lang="en-IN" dirty="0"/>
              <a:t>, </a:t>
            </a:r>
            <a:r>
              <a:rPr lang="en-IN" dirty="0" err="1"/>
              <a:t>scaler.pkl</a:t>
            </a:r>
            <a:r>
              <a:rPr lang="en-IN" dirty="0"/>
              <a:t>)</a:t>
            </a:r>
          </a:p>
          <a:p>
            <a:r>
              <a:rPr lang="en-IN" dirty="0"/>
              <a:t>Basic system configuration (minimum 4GB RAM)</a:t>
            </a:r>
          </a:p>
          <a:p>
            <a:r>
              <a:rPr lang="en-IN" dirty="0"/>
              <a:t>JSON file: </a:t>
            </a:r>
            <a:r>
              <a:rPr lang="en-IN" dirty="0" err="1"/>
              <a:t>users.json</a:t>
            </a:r>
            <a:endParaRPr lang="en-IN" dirty="0"/>
          </a:p>
          <a:p>
            <a:endParaRPr lang="en-IN" b="1" dirty="0"/>
          </a:p>
        </p:txBody>
      </p:sp>
      <p:sp>
        <p:nvSpPr>
          <p:cNvPr id="4" name="Rectangle 1">
            <a:extLst>
              <a:ext uri="{FF2B5EF4-FFF2-40B4-BE49-F238E27FC236}">
                <a16:creationId xmlns:a16="http://schemas.microsoft.com/office/drawing/2014/main" id="{8CAC3877-7992-C639-3F94-AD0FD007782F}"/>
              </a:ext>
            </a:extLst>
          </p:cNvPr>
          <p:cNvSpPr>
            <a:spLocks noChangeArrowheads="1"/>
          </p:cNvSpPr>
          <p:nvPr/>
        </p:nvSpPr>
        <p:spPr bwMode="auto">
          <a:xfrm>
            <a:off x="0" y="-184666"/>
            <a:ext cx="34176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4966196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5" name="Picture 4" descr="Five bulbs and one of them is glowing">
            <a:extLst>
              <a:ext uri="{FF2B5EF4-FFF2-40B4-BE49-F238E27FC236}">
                <a16:creationId xmlns:a16="http://schemas.microsoft.com/office/drawing/2014/main" id="{6502B327-023B-19C1-2A07-58822C3EC950}"/>
              </a:ext>
            </a:extLst>
          </p:cNvPr>
          <p:cNvPicPr>
            <a:picLocks noChangeAspect="1"/>
          </p:cNvPicPr>
          <p:nvPr/>
        </p:nvPicPr>
        <p:blipFill>
          <a:blip r:embed="rId2"/>
          <a:srcRect l="20348" r="20317" b="-1"/>
          <a:stretch/>
        </p:blipFill>
        <p:spPr>
          <a:xfrm>
            <a:off x="642" y="10"/>
            <a:ext cx="6096000" cy="6857990"/>
          </a:xfrm>
          <a:prstGeom prst="rect">
            <a:avLst/>
          </a:prstGeom>
        </p:spPr>
      </p:pic>
      <p:sp>
        <p:nvSpPr>
          <p:cNvPr id="2" name="Title 1">
            <a:extLst>
              <a:ext uri="{FF2B5EF4-FFF2-40B4-BE49-F238E27FC236}">
                <a16:creationId xmlns:a16="http://schemas.microsoft.com/office/drawing/2014/main" id="{7AED9BD6-F510-4FEC-BBC3-026270D71F4F}"/>
              </a:ext>
            </a:extLst>
          </p:cNvPr>
          <p:cNvSpPr>
            <a:spLocks noGrp="1"/>
          </p:cNvSpPr>
          <p:nvPr>
            <p:ph type="title"/>
          </p:nvPr>
        </p:nvSpPr>
        <p:spPr>
          <a:xfrm>
            <a:off x="804993" y="2841504"/>
            <a:ext cx="4487298" cy="1174991"/>
          </a:xfrm>
          <a:solidFill>
            <a:schemeClr val="tx1">
              <a:alpha val="60000"/>
            </a:schemeClr>
          </a:solidFill>
          <a:ln w="31750" cap="sq">
            <a:solidFill>
              <a:schemeClr val="bg1"/>
            </a:solidFill>
            <a:miter lim="800000"/>
          </a:ln>
        </p:spPr>
        <p:txBody>
          <a:bodyPr vert="horz" lIns="182880" tIns="182880" rIns="182880" bIns="182880" rtlCol="0" anchor="ctr">
            <a:normAutofit/>
          </a:bodyPr>
          <a:lstStyle/>
          <a:p>
            <a:r>
              <a:rPr lang="en-IN" sz="2400" b="1" dirty="0">
                <a:solidFill>
                  <a:schemeClr val="bg1"/>
                </a:solidFill>
                <a:latin typeface="Algerian" panose="04020705040A02060702" pitchFamily="82" charset="0"/>
              </a:rPr>
              <a:t>Innovative Idea</a:t>
            </a:r>
          </a:p>
        </p:txBody>
      </p:sp>
      <p:sp>
        <p:nvSpPr>
          <p:cNvPr id="4" name="Rectangle 1">
            <a:extLst>
              <a:ext uri="{FF2B5EF4-FFF2-40B4-BE49-F238E27FC236}">
                <a16:creationId xmlns:a16="http://schemas.microsoft.com/office/drawing/2014/main" id="{1043CB53-3C44-10A7-84B8-ABA7FC1F9F11}"/>
              </a:ext>
            </a:extLst>
          </p:cNvPr>
          <p:cNvSpPr>
            <a:spLocks noGrp="1" noChangeArrowheads="1"/>
          </p:cNvSpPr>
          <p:nvPr>
            <p:ph idx="1"/>
          </p:nvPr>
        </p:nvSpPr>
        <p:spPr bwMode="auto">
          <a:xfrm>
            <a:off x="6308204" y="1068831"/>
            <a:ext cx="5636870" cy="4734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dirty="0"/>
              <a:t>Integration of a machine learning–based churn prediction model with an interactive Streamlit dashboard for real-time analysis.</a:t>
            </a:r>
          </a:p>
          <a:p>
            <a:r>
              <a:rPr lang="en-US" sz="2000" dirty="0" smtClean="0"/>
              <a:t>Dual </a:t>
            </a:r>
            <a:r>
              <a:rPr lang="en-US" sz="2000" dirty="0"/>
              <a:t>functionality: single customer prediction and bulk prediction using CSV upload for large-scale analysis</a:t>
            </a:r>
            <a:r>
              <a:rPr lang="en-US" sz="2000" dirty="0" smtClean="0"/>
              <a:t>.</a:t>
            </a:r>
          </a:p>
          <a:p>
            <a:r>
              <a:rPr lang="en-US" sz="2000" dirty="0" smtClean="0"/>
              <a:t>Real time churn prediction system</a:t>
            </a:r>
            <a:r>
              <a:rPr lang="en-US" sz="2000" dirty="0"/>
              <a:t> </a:t>
            </a:r>
            <a:r>
              <a:rPr lang="en-US" sz="2000" dirty="0" smtClean="0"/>
              <a:t>AI- based retention strategy suggestions Interactive and dynamic dashboard Combines AI with business intelligence</a:t>
            </a:r>
          </a:p>
          <a:p>
            <a:r>
              <a:rPr lang="en-US" sz="2000" b="1" dirty="0" smtClean="0"/>
              <a:t>Dual Functionality</a:t>
            </a:r>
            <a:r>
              <a:rPr lang="en-US" sz="2000" dirty="0" smtClean="0"/>
              <a:t>:</a:t>
            </a:r>
          </a:p>
          <a:p>
            <a:r>
              <a:rPr lang="en-US" sz="2000" dirty="0" smtClean="0"/>
              <a:t>Single Customer analysis</a:t>
            </a:r>
          </a:p>
          <a:p>
            <a:r>
              <a:rPr lang="en-US" sz="2000" dirty="0" smtClean="0"/>
              <a:t>Bulk CSV analysis</a:t>
            </a:r>
          </a:p>
        </p:txBody>
      </p:sp>
    </p:spTree>
    <p:extLst>
      <p:ext uri="{BB962C8B-B14F-4D97-AF65-F5344CB8AC3E}">
        <p14:creationId xmlns:p14="http://schemas.microsoft.com/office/powerpoint/2010/main" val="34631410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EFFFF2-9EB4-4B6C-B9F8-2BA3EF89A21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D65299F-028F-4AFC-B46A-8DB33E20FE4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AC87F6E-526A-49B5-995D-42DB656594C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EEA8E4-2B1A-430A-A41B-30AE8D1A7E78}"/>
              </a:ext>
            </a:extLst>
          </p:cNvPr>
          <p:cNvSpPr>
            <a:spLocks noGrp="1"/>
          </p:cNvSpPr>
          <p:nvPr>
            <p:ph type="title"/>
          </p:nvPr>
        </p:nvSpPr>
        <p:spPr>
          <a:xfrm>
            <a:off x="1275885" y="1586484"/>
            <a:ext cx="3685032" cy="3685032"/>
          </a:xfrm>
          <a:prstGeom prst="ellipse">
            <a:avLst/>
          </a:prstGeom>
          <a:solidFill>
            <a:schemeClr val="accent2">
              <a:lumMod val="75000"/>
            </a:schemeClr>
          </a:solidFill>
          <a:ln>
            <a:noFill/>
          </a:ln>
        </p:spPr>
        <p:txBody>
          <a:bodyPr>
            <a:normAutofit/>
          </a:bodyPr>
          <a:lstStyle/>
          <a:p>
            <a:r>
              <a:rPr lang="en-IN" b="1" dirty="0">
                <a:latin typeface="Algerian" panose="04020705040A02060702" pitchFamily="82" charset="0"/>
              </a:rPr>
              <a:t>Results / Outcomes / Analysis</a:t>
            </a:r>
          </a:p>
        </p:txBody>
      </p:sp>
      <p:sp>
        <p:nvSpPr>
          <p:cNvPr id="4" name="Rectangle 1">
            <a:extLst>
              <a:ext uri="{FF2B5EF4-FFF2-40B4-BE49-F238E27FC236}">
                <a16:creationId xmlns:a16="http://schemas.microsoft.com/office/drawing/2014/main" id="{15E9724D-FD91-B0F2-57D6-90553D6562E5}"/>
              </a:ext>
            </a:extLst>
          </p:cNvPr>
          <p:cNvSpPr>
            <a:spLocks noGrp="1" noChangeArrowheads="1"/>
          </p:cNvSpPr>
          <p:nvPr>
            <p:ph idx="1"/>
          </p:nvPr>
        </p:nvSpPr>
        <p:spPr bwMode="auto">
          <a:xfrm>
            <a:off x="5428528" y="1061687"/>
            <a:ext cx="6667016" cy="4734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dirty="0"/>
              <a:t>The machine learning model successfully predicts customer churn with good accuracy.</a:t>
            </a:r>
          </a:p>
          <a:p>
            <a:r>
              <a:rPr lang="en-US" sz="2000" dirty="0" smtClean="0"/>
              <a:t>Key </a:t>
            </a:r>
            <a:r>
              <a:rPr lang="en-US" sz="2000" dirty="0"/>
              <a:t>factors influencing churn include age, balance, credit score, and activity </a:t>
            </a:r>
            <a:r>
              <a:rPr lang="en-US" sz="2000" dirty="0" smtClean="0"/>
              <a:t>status Enables targeted making actions.</a:t>
            </a:r>
            <a:endParaRPr lang="en-US" sz="2000" dirty="0"/>
          </a:p>
          <a:p>
            <a:r>
              <a:rPr lang="en-US" sz="2000" dirty="0"/>
              <a:t>The Streamlit application provides real-time predictions and interactive </a:t>
            </a:r>
            <a:r>
              <a:rPr lang="en-US" sz="2000" dirty="0" smtClean="0"/>
              <a:t>visualizations. Improves customer retention strategies.</a:t>
            </a:r>
          </a:p>
          <a:p>
            <a:r>
              <a:rPr lang="en-US" sz="2000" dirty="0" smtClean="0"/>
              <a:t>Identifies high-risk customers in advance provides probability- based decision support Helps in recuing customer churn.</a:t>
            </a:r>
            <a:endParaRPr lang="en-US" sz="2000" dirty="0"/>
          </a:p>
          <a:p>
            <a:r>
              <a:rPr lang="en-US" sz="2000" dirty="0"/>
              <a:t>The system helps in making data-driven decisions for customer retention </a:t>
            </a:r>
            <a:r>
              <a:rPr lang="en-US" sz="2000" dirty="0" smtClean="0"/>
              <a:t>strategies.</a:t>
            </a:r>
          </a:p>
          <a:p>
            <a:r>
              <a:rPr lang="en-US" sz="2000" b="1" dirty="0" smtClean="0"/>
              <a:t>Model Accuracy</a:t>
            </a:r>
            <a:r>
              <a:rPr lang="en-US" sz="2000" dirty="0" smtClean="0"/>
              <a:t>: Approximately: 85 - 86%</a:t>
            </a:r>
            <a:endParaRPr lang="en-US" sz="2000" dirty="0"/>
          </a:p>
        </p:txBody>
      </p:sp>
    </p:spTree>
    <p:extLst>
      <p:ext uri="{BB962C8B-B14F-4D97-AF65-F5344CB8AC3E}">
        <p14:creationId xmlns:p14="http://schemas.microsoft.com/office/powerpoint/2010/main" val="31306552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5" name="Picture 4" descr="A group of yellow figures and a red figure on the other side">
            <a:extLst>
              <a:ext uri="{FF2B5EF4-FFF2-40B4-BE49-F238E27FC236}">
                <a16:creationId xmlns:a16="http://schemas.microsoft.com/office/drawing/2014/main" id="{AF55747E-0BF5-40C6-D4AD-0FF058921801}"/>
              </a:ext>
            </a:extLst>
          </p:cNvPr>
          <p:cNvPicPr>
            <a:picLocks noChangeAspect="1"/>
          </p:cNvPicPr>
          <p:nvPr/>
        </p:nvPicPr>
        <p:blipFill>
          <a:blip r:embed="rId2"/>
          <a:srcRect l="38644" r="2022" b="-1"/>
          <a:stretch/>
        </p:blipFill>
        <p:spPr>
          <a:xfrm>
            <a:off x="642" y="10"/>
            <a:ext cx="6096000" cy="6857990"/>
          </a:xfrm>
          <a:prstGeom prst="rect">
            <a:avLst/>
          </a:prstGeom>
        </p:spPr>
      </p:pic>
      <p:sp>
        <p:nvSpPr>
          <p:cNvPr id="2" name="Title 1">
            <a:extLst>
              <a:ext uri="{FF2B5EF4-FFF2-40B4-BE49-F238E27FC236}">
                <a16:creationId xmlns:a16="http://schemas.microsoft.com/office/drawing/2014/main" id="{9B5131FA-8D36-492B-8E16-2BB465AADDDF}"/>
              </a:ext>
            </a:extLst>
          </p:cNvPr>
          <p:cNvSpPr>
            <a:spLocks noGrp="1"/>
          </p:cNvSpPr>
          <p:nvPr>
            <p:ph type="title"/>
          </p:nvPr>
        </p:nvSpPr>
        <p:spPr>
          <a:xfrm>
            <a:off x="804672" y="2841505"/>
            <a:ext cx="4487298" cy="1174991"/>
          </a:xfrm>
          <a:solidFill>
            <a:schemeClr val="tx1">
              <a:alpha val="60000"/>
            </a:schemeClr>
          </a:solidFill>
          <a:ln>
            <a:solidFill>
              <a:schemeClr val="bg1"/>
            </a:solidFill>
          </a:ln>
        </p:spPr>
        <p:txBody>
          <a:bodyPr>
            <a:normAutofit/>
          </a:bodyPr>
          <a:lstStyle/>
          <a:p>
            <a:r>
              <a:rPr lang="en-IN" b="1" dirty="0">
                <a:solidFill>
                  <a:schemeClr val="bg1"/>
                </a:solidFill>
                <a:latin typeface="Algerian" panose="04020705040A02060702" pitchFamily="82" charset="0"/>
              </a:rPr>
              <a:t>Limitations</a:t>
            </a:r>
          </a:p>
        </p:txBody>
      </p:sp>
      <p:sp>
        <p:nvSpPr>
          <p:cNvPr id="3" name="Content Placeholder 2">
            <a:extLst>
              <a:ext uri="{FF2B5EF4-FFF2-40B4-BE49-F238E27FC236}">
                <a16:creationId xmlns:a16="http://schemas.microsoft.com/office/drawing/2014/main" id="{B2658A8F-6943-4E76-8967-55B21E8D3429}"/>
              </a:ext>
            </a:extLst>
          </p:cNvPr>
          <p:cNvSpPr>
            <a:spLocks noGrp="1"/>
          </p:cNvSpPr>
          <p:nvPr>
            <p:ph idx="1"/>
          </p:nvPr>
        </p:nvSpPr>
        <p:spPr>
          <a:xfrm>
            <a:off x="6215604" y="219919"/>
            <a:ext cx="5775767" cy="5676025"/>
          </a:xfrm>
        </p:spPr>
        <p:txBody>
          <a:bodyPr anchor="ctr"/>
          <a:lstStyle/>
          <a:p>
            <a:r>
              <a:rPr lang="en-US" sz="2000" dirty="0"/>
              <a:t>The model is trained on a limited and static dataset, which may not fully represent real-world banking scenarios. </a:t>
            </a:r>
            <a:endParaRPr lang="en-US" sz="2000" dirty="0" smtClean="0"/>
          </a:p>
          <a:p>
            <a:r>
              <a:rPr lang="en-US" sz="2000" dirty="0" smtClean="0"/>
              <a:t>Model performance depends on training data quality limited number of input features no real time database integration.</a:t>
            </a:r>
          </a:p>
          <a:p>
            <a:r>
              <a:rPr lang="en-US" sz="2000" dirty="0" smtClean="0"/>
              <a:t>Basic authentication system (JSON-based) some dashboards use synthetic (random) data.</a:t>
            </a:r>
          </a:p>
          <a:p>
            <a:r>
              <a:rPr lang="en-US" sz="2000" dirty="0" smtClean="0"/>
              <a:t>The </a:t>
            </a:r>
            <a:r>
              <a:rPr lang="en-US" sz="2000" dirty="0"/>
              <a:t>current system also uses a basic authentication mechanism and is not deployed on a scalable cloud environment, limiting its use in large-scale applications.</a:t>
            </a:r>
            <a:endParaRPr lang="en-IN" sz="2000" dirty="0"/>
          </a:p>
        </p:txBody>
      </p:sp>
    </p:spTree>
    <p:extLst>
      <p:ext uri="{BB962C8B-B14F-4D97-AF65-F5344CB8AC3E}">
        <p14:creationId xmlns:p14="http://schemas.microsoft.com/office/powerpoint/2010/main" val="4247599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131FA-8D36-492B-8E16-2BB465AADDDF}"/>
              </a:ext>
            </a:extLst>
          </p:cNvPr>
          <p:cNvSpPr>
            <a:spLocks noGrp="1"/>
          </p:cNvSpPr>
          <p:nvPr>
            <p:ph type="title"/>
          </p:nvPr>
        </p:nvSpPr>
        <p:spPr>
          <a:xfrm>
            <a:off x="5445125" y="590309"/>
            <a:ext cx="5925310" cy="1145893"/>
          </a:xfrm>
        </p:spPr>
        <p:txBody>
          <a:bodyPr>
            <a:normAutofit/>
          </a:bodyPr>
          <a:lstStyle/>
          <a:p>
            <a:r>
              <a:rPr lang="en-IN" b="1" dirty="0">
                <a:latin typeface="Algerian" panose="04020705040A02060702" pitchFamily="82" charset="0"/>
              </a:rPr>
              <a:t>Future Enhancements/Scope</a:t>
            </a:r>
          </a:p>
        </p:txBody>
      </p:sp>
      <p:pic>
        <p:nvPicPr>
          <p:cNvPr id="5" name="Picture 4" descr="White arrows going to the red target">
            <a:extLst>
              <a:ext uri="{FF2B5EF4-FFF2-40B4-BE49-F238E27FC236}">
                <a16:creationId xmlns:a16="http://schemas.microsoft.com/office/drawing/2014/main" id="{A3EA6280-589F-C0E2-BE2F-BC5FC4617615}"/>
              </a:ext>
            </a:extLst>
          </p:cNvPr>
          <p:cNvPicPr>
            <a:picLocks noChangeAspect="1"/>
          </p:cNvPicPr>
          <p:nvPr/>
        </p:nvPicPr>
        <p:blipFill>
          <a:blip r:embed="rId2"/>
          <a:srcRect l="45161" r="9508" b="-1"/>
          <a:stretch/>
        </p:blipFill>
        <p:spPr>
          <a:xfrm>
            <a:off x="20" y="10"/>
            <a:ext cx="4657325" cy="6857990"/>
          </a:xfrm>
          <a:prstGeom prst="rect">
            <a:avLst/>
          </a:prstGeom>
        </p:spPr>
      </p:pic>
      <p:sp>
        <p:nvSpPr>
          <p:cNvPr id="4" name="Rectangle 1">
            <a:extLst>
              <a:ext uri="{FF2B5EF4-FFF2-40B4-BE49-F238E27FC236}">
                <a16:creationId xmlns:a16="http://schemas.microsoft.com/office/drawing/2014/main" id="{0BF44D14-97A1-F0F5-63DC-3E810A2FEDDC}"/>
              </a:ext>
            </a:extLst>
          </p:cNvPr>
          <p:cNvSpPr>
            <a:spLocks noGrp="1" noChangeArrowheads="1"/>
          </p:cNvSpPr>
          <p:nvPr>
            <p:ph idx="1"/>
          </p:nvPr>
        </p:nvSpPr>
        <p:spPr bwMode="auto">
          <a:xfrm>
            <a:off x="5445125" y="2005838"/>
            <a:ext cx="6557822"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176213" eaLnBrk="0" fontAlgn="base" hangingPunct="0">
              <a:spcBef>
                <a:spcPct val="0"/>
              </a:spcBef>
              <a:spcAft>
                <a:spcPct val="0"/>
              </a:spcAft>
              <a:buClrTx/>
              <a:buFontTx/>
              <a:buChar char="•"/>
            </a:pPr>
            <a:r>
              <a:rPr lang="en-US" dirty="0"/>
              <a:t>Integrate real-time data such as transaction history and customer </a:t>
            </a:r>
          </a:p>
          <a:p>
            <a:pPr marL="0" lvl="0" indent="0" eaLnBrk="0" fontAlgn="base" hangingPunct="0">
              <a:spcBef>
                <a:spcPct val="0"/>
              </a:spcBef>
              <a:spcAft>
                <a:spcPct val="0"/>
              </a:spcAft>
              <a:buClrTx/>
              <a:buNone/>
            </a:pPr>
            <a:r>
              <a:rPr lang="en-US" dirty="0"/>
              <a:t>   activity for improved prediction accuracy.</a:t>
            </a:r>
          </a:p>
          <a:p>
            <a:pPr marL="0" lvl="0" indent="0" eaLnBrk="0" fontAlgn="base" hangingPunct="0">
              <a:spcBef>
                <a:spcPct val="0"/>
              </a:spcBef>
              <a:spcAft>
                <a:spcPct val="0"/>
              </a:spcAft>
              <a:buClr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spcBef>
                <a:spcPct val="0"/>
              </a:spcBef>
              <a:spcAft>
                <a:spcPct val="0"/>
              </a:spcAft>
              <a:buClr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a:t>
            </a:r>
            <a:r>
              <a:rPr lang="en-US" dirty="0"/>
              <a:t>Deploy the application on cloud platforms (AWS, Azure) for </a:t>
            </a:r>
          </a:p>
          <a:p>
            <a:pPr marL="0" lvl="0" indent="0" eaLnBrk="0" fontAlgn="base" hangingPunct="0">
              <a:spcBef>
                <a:spcPct val="0"/>
              </a:spcBef>
              <a:spcAft>
                <a:spcPct val="0"/>
              </a:spcAft>
              <a:buClrTx/>
              <a:buNone/>
            </a:pPr>
            <a:r>
              <a:rPr lang="en-US" dirty="0"/>
              <a:t>   scalability and real-world </a:t>
            </a:r>
            <a:r>
              <a:rPr lang="en-US" dirty="0" smtClean="0"/>
              <a:t>usage</a:t>
            </a:r>
            <a:r>
              <a:rPr lang="en-US" dirty="0"/>
              <a:t> </a:t>
            </a:r>
            <a:r>
              <a:rPr lang="en-US" dirty="0" smtClean="0"/>
              <a:t>use of advanced ML models (XGBoost ,deep learning) .</a:t>
            </a:r>
            <a:endParaRPr lang="en-US" dirty="0"/>
          </a:p>
          <a:p>
            <a:pPr marL="0" lvl="0" indent="0" eaLnBrk="0" fontAlgn="base" hangingPunct="0">
              <a:spcBef>
                <a:spcPct val="0"/>
              </a:spcBef>
              <a:spcAft>
                <a:spcPct val="0"/>
              </a:spcAft>
              <a:buClr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spcBef>
                <a:spcPct val="0"/>
              </a:spcBef>
              <a:spcAft>
                <a:spcPct val="0"/>
              </a:spcAft>
              <a:buClrTx/>
              <a:buFontTx/>
              <a:buChar char="•"/>
            </a:pPr>
            <a:r>
              <a:rPr lang="en-US" dirty="0"/>
              <a:t>  Implement a more secure authentication system with encryption  </a:t>
            </a:r>
          </a:p>
          <a:p>
            <a:pPr marL="0" lvl="0" indent="0" eaLnBrk="0" fontAlgn="base" hangingPunct="0">
              <a:spcBef>
                <a:spcPct val="0"/>
              </a:spcBef>
              <a:spcAft>
                <a:spcPct val="0"/>
              </a:spcAft>
              <a:buClrTx/>
              <a:buNone/>
            </a:pPr>
            <a:r>
              <a:rPr lang="en-US" dirty="0"/>
              <a:t>    and database </a:t>
            </a:r>
            <a:r>
              <a:rPr lang="en-US" dirty="0" smtClean="0"/>
              <a:t>integration.explainable AI for better transparency</a:t>
            </a:r>
            <a:endParaRPr lang="en-US" dirty="0"/>
          </a:p>
          <a:p>
            <a:pPr marL="0" lvl="0" indent="0" eaLnBrk="0" fontAlgn="base" hangingPunct="0">
              <a:spcBef>
                <a:spcPct val="0"/>
              </a:spcBef>
              <a:spcAft>
                <a:spcPct val="0"/>
              </a:spcAft>
              <a:buClrTx/>
              <a:buNone/>
            </a:pPr>
            <a:endParaRPr lang="en-US" dirty="0"/>
          </a:p>
          <a:p>
            <a:pPr eaLnBrk="0" fontAlgn="base" hangingPunct="0">
              <a:spcBef>
                <a:spcPct val="0"/>
              </a:spcBef>
              <a:spcAft>
                <a:spcPct val="0"/>
              </a:spcAft>
              <a:buClrTx/>
            </a:pPr>
            <a:r>
              <a:rPr lang="en-US" dirty="0"/>
              <a:t>Add personalized recommendation systems for targeted customer retention </a:t>
            </a:r>
            <a:r>
              <a:rPr lang="en-US" dirty="0" smtClean="0"/>
              <a:t>strategies enhanced security (encryption,</a:t>
            </a:r>
          </a:p>
          <a:p>
            <a:pPr marL="0" indent="0" eaLnBrk="0" fontAlgn="base" hangingPunct="0">
              <a:spcBef>
                <a:spcPct val="0"/>
              </a:spcBef>
              <a:spcAft>
                <a:spcPct val="0"/>
              </a:spcAft>
              <a:buClrTx/>
              <a:buNone/>
            </a:pPr>
            <a:r>
              <a:rPr lang="en-US" dirty="0"/>
              <a:t> </a:t>
            </a:r>
            <a:r>
              <a:rPr lang="en-US" dirty="0" smtClean="0"/>
              <a:t>   JWT authentication).</a:t>
            </a:r>
            <a:endParaRPr lang="en-US" dirty="0"/>
          </a:p>
          <a:p>
            <a:pPr marL="0" indent="0" eaLnBrk="0" fontAlgn="base" hangingPunct="0">
              <a:spcBef>
                <a:spcPct val="0"/>
              </a:spcBef>
              <a:spcAft>
                <a:spcPct val="0"/>
              </a:spcAft>
              <a:buClrTx/>
              <a:buNone/>
            </a:pPr>
            <a:endParaRPr lang="en-US" dirty="0"/>
          </a:p>
          <a:p>
            <a:pPr eaLnBrk="0" fontAlgn="base" hangingPunct="0">
              <a:spcBef>
                <a:spcPct val="0"/>
              </a:spcBef>
              <a:spcAft>
                <a:spcPct val="0"/>
              </a:spcAft>
              <a:buClrTx/>
            </a:pPr>
            <a:r>
              <a:rPr lang="en-US" dirty="0"/>
              <a:t>Enhance the user interface with more advanced analytics and </a:t>
            </a:r>
            <a:r>
              <a:rPr lang="en-US" dirty="0" smtClean="0"/>
              <a:t>dashboards Personalized customer recommendation System.</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164184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C3E1C3D-633C-4756-B09B-9AD080714C9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6668" y="640080"/>
            <a:ext cx="10915252" cy="5263134"/>
          </a:xfrm>
          <a:prstGeom prst="rect">
            <a:avLst/>
          </a:prstGeom>
          <a:noFill/>
          <a:ln w="317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295DAF8-54BC-4834-A4B1-7DD2F7AFE5A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1520" y="802767"/>
            <a:ext cx="10585166" cy="49377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5131FA-8D36-492B-8E16-2BB465AADDDF}"/>
              </a:ext>
            </a:extLst>
          </p:cNvPr>
          <p:cNvSpPr>
            <a:spLocks noGrp="1"/>
          </p:cNvSpPr>
          <p:nvPr>
            <p:ph type="title"/>
          </p:nvPr>
        </p:nvSpPr>
        <p:spPr>
          <a:xfrm>
            <a:off x="1120624" y="1122807"/>
            <a:ext cx="9954443" cy="4297680"/>
          </a:xfrm>
          <a:noFill/>
          <a:ln>
            <a:noFill/>
          </a:ln>
        </p:spPr>
        <p:txBody>
          <a:bodyPr vert="horz" lIns="182880" tIns="182880" rIns="182880" bIns="182880" rtlCol="0" anchor="ctr">
            <a:noAutofit/>
          </a:bodyPr>
          <a:lstStyle/>
          <a:p>
            <a:r>
              <a:rPr lang="en-US" sz="3600" kern="1200" cap="all" spc="200" baseline="0" dirty="0">
                <a:solidFill>
                  <a:srgbClr val="7030A0"/>
                </a:solidFill>
                <a:latin typeface="+mj-lt"/>
                <a:hlinkClick r:id="rId2">
                  <a:extLst>
                    <a:ext uri="{A12FA001-AC4F-418D-AE19-62706E023703}">
                      <ahyp:hlinkClr xmlns="" xmlns:ahyp="http://schemas.microsoft.com/office/drawing/2018/hyperlinkcolor" val="tx"/>
                    </a:ext>
                  </a:extLst>
                </a:hlinkClick>
              </a:rPr>
              <a:t>https://github.com/AshiSingh15/Bank-Customer-Churn-Prediction</a:t>
            </a:r>
            <a:endParaRPr lang="en-US" sz="3600" kern="1200" cap="all" spc="200" baseline="0" dirty="0">
              <a:solidFill>
                <a:srgbClr val="7030A0"/>
              </a:solidFill>
              <a:latin typeface="+mj-lt"/>
            </a:endParaRPr>
          </a:p>
        </p:txBody>
      </p:sp>
    </p:spTree>
    <p:extLst>
      <p:ext uri="{BB962C8B-B14F-4D97-AF65-F5344CB8AC3E}">
        <p14:creationId xmlns:p14="http://schemas.microsoft.com/office/powerpoint/2010/main" val="29007037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C2A9291-55AD-4DDC-8735-1BA5A1C98CC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8A74F5-46D6-41B8-88F6-8920EDCB47B2}"/>
              </a:ext>
            </a:extLst>
          </p:cNvPr>
          <p:cNvSpPr>
            <a:spLocks noGrp="1"/>
          </p:cNvSpPr>
          <p:nvPr>
            <p:ph type="title"/>
          </p:nvPr>
        </p:nvSpPr>
        <p:spPr>
          <a:xfrm>
            <a:off x="1752600" y="2542604"/>
            <a:ext cx="8686800" cy="1772793"/>
          </a:xfrm>
          <a:solidFill>
            <a:srgbClr val="FFFFFF"/>
          </a:solidFill>
          <a:ln>
            <a:solidFill>
              <a:srgbClr val="404040"/>
            </a:solidFill>
          </a:ln>
        </p:spPr>
        <p:txBody>
          <a:bodyPr vert="horz" wrap="square" lIns="182880" tIns="182880" rIns="182880" bIns="182880" rtlCol="0" anchor="ctr">
            <a:normAutofit/>
          </a:bodyPr>
          <a:lstStyle/>
          <a:p>
            <a:r>
              <a:rPr lang="en-US" sz="6000" b="1" dirty="0">
                <a:latin typeface="Algerian" panose="04020705040A02060702" pitchFamily="82" charset="0"/>
              </a:rPr>
              <a:t>Thank You</a:t>
            </a:r>
          </a:p>
        </p:txBody>
      </p:sp>
    </p:spTree>
    <p:extLst>
      <p:ext uri="{BB962C8B-B14F-4D97-AF65-F5344CB8AC3E}">
        <p14:creationId xmlns:p14="http://schemas.microsoft.com/office/powerpoint/2010/main" val="3720621799"/>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otalTime>268</TotalTime>
  <Words>697</Words>
  <Application>Microsoft Office PowerPoint</Application>
  <PresentationFormat>Widescreen</PresentationFormat>
  <Paragraphs>86</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Abadi</vt:lpstr>
      <vt:lpstr>Algerian</vt:lpstr>
      <vt:lpstr>Arial</vt:lpstr>
      <vt:lpstr>Gill Sans MT</vt:lpstr>
      <vt:lpstr>Wingdings</vt:lpstr>
      <vt:lpstr>Parcel</vt:lpstr>
      <vt:lpstr>Bank customer churn prediction</vt:lpstr>
      <vt:lpstr>The Team</vt:lpstr>
      <vt:lpstr>Workload Division</vt:lpstr>
      <vt:lpstr>The Background</vt:lpstr>
      <vt:lpstr>Proposed Solution</vt:lpstr>
      <vt:lpstr>Solution Design</vt:lpstr>
      <vt:lpstr>Technology  Stack &amp; Requirements</vt:lpstr>
      <vt:lpstr>Innovative Idea</vt:lpstr>
      <vt:lpstr>Results / Outcomes / Analysis</vt:lpstr>
      <vt:lpstr>Limitations</vt:lpstr>
      <vt:lpstr>Future Enhancements/Scope</vt:lpstr>
      <vt:lpstr>https://github.com/AshiSingh15/Bank-Customer-Churn-Prediction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Prateek Vashishtha</dc:creator>
  <cp:lastModifiedBy>raj chaudhary</cp:lastModifiedBy>
  <cp:revision>98</cp:revision>
  <dcterms:created xsi:type="dcterms:W3CDTF">2021-11-25T04:17:35Z</dcterms:created>
  <dcterms:modified xsi:type="dcterms:W3CDTF">2026-03-23T04:20:39Z</dcterms:modified>
</cp:coreProperties>
</file>